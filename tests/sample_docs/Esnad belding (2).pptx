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96" r:id="rId2"/>
    <p:sldId id="326" r:id="rId3"/>
    <p:sldId id="327" r:id="rId4"/>
    <p:sldId id="337" r:id="rId5"/>
    <p:sldId id="339" r:id="rId6"/>
    <p:sldId id="322" r:id="rId7"/>
    <p:sldId id="328" r:id="rId8"/>
    <p:sldId id="323" r:id="rId9"/>
    <p:sldId id="329" r:id="rId10"/>
    <p:sldId id="341" r:id="rId11"/>
    <p:sldId id="325" r:id="rId12"/>
    <p:sldId id="2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87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3867" autoAdjust="0"/>
  </p:normalViewPr>
  <p:slideViewPr>
    <p:cSldViewPr snapToGrid="0">
      <p:cViewPr varScale="1">
        <p:scale>
          <a:sx n="75" d="100"/>
          <a:sy n="75" d="100"/>
        </p:scale>
        <p:origin x="3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C032BF-2B72-4861-B138-9D8E5F1FEDDE}" type="doc">
      <dgm:prSet loTypeId="urn:microsoft.com/office/officeart/2016/7/layout/ChevronBlockProcess" loCatId="process" qsTypeId="urn:microsoft.com/office/officeart/2005/8/quickstyle/simple1" qsCatId="simple" csTypeId="urn:microsoft.com/office/officeart/2005/8/colors/colorful5" csCatId="colorful" phldr="1"/>
      <dgm:spPr/>
      <dgm:t>
        <a:bodyPr/>
        <a:lstStyle/>
        <a:p>
          <a:endParaRPr lang="en-US"/>
        </a:p>
      </dgm:t>
    </dgm:pt>
    <dgm:pt modelId="{6AE9D813-4738-473A-9157-EF93446EAAC4}">
      <dgm:prSet custT="1"/>
      <dgm:spPr/>
      <dgm:t>
        <a:bodyPr/>
        <a:lstStyle/>
        <a:p>
          <a:r>
            <a:rPr lang="en-US" sz="2400" dirty="0"/>
            <a:t>Phase 1</a:t>
          </a:r>
        </a:p>
      </dgm:t>
    </dgm:pt>
    <dgm:pt modelId="{467266A2-C8F1-4B61-AD0F-A1F4ADCAFB1D}" type="parTrans" cxnId="{9E74615F-DC73-48BD-BE9F-C1D67ABFDD3E}">
      <dgm:prSet/>
      <dgm:spPr/>
      <dgm:t>
        <a:bodyPr/>
        <a:lstStyle/>
        <a:p>
          <a:endParaRPr lang="en-US"/>
        </a:p>
      </dgm:t>
    </dgm:pt>
    <dgm:pt modelId="{A9176595-6AD2-4403-A6FE-E5F17E76FB55}" type="sibTrans" cxnId="{9E74615F-DC73-48BD-BE9F-C1D67ABFDD3E}">
      <dgm:prSet/>
      <dgm:spPr/>
      <dgm:t>
        <a:bodyPr/>
        <a:lstStyle/>
        <a:p>
          <a:endParaRPr lang="en-US"/>
        </a:p>
      </dgm:t>
    </dgm:pt>
    <dgm:pt modelId="{B6EFAF28-D8A0-421B-B405-54AE26871F02}">
      <dgm:prSet custT="1"/>
      <dgm:spPr/>
      <dgm:t>
        <a:bodyPr/>
        <a:lstStyle/>
        <a:p>
          <a:pPr>
            <a:buNone/>
          </a:pPr>
          <a:r>
            <a:rPr lang="en-US" sz="1600" b="1" dirty="0"/>
            <a:t>Blending</a:t>
          </a:r>
        </a:p>
      </dgm:t>
    </dgm:pt>
    <dgm:pt modelId="{CBC86211-5A9B-44B5-A88C-55D033C83551}" type="parTrans" cxnId="{E4045A3A-D1B4-43D9-ADB3-6A05D8C7F42D}">
      <dgm:prSet/>
      <dgm:spPr/>
      <dgm:t>
        <a:bodyPr/>
        <a:lstStyle/>
        <a:p>
          <a:endParaRPr lang="en-US"/>
        </a:p>
      </dgm:t>
    </dgm:pt>
    <dgm:pt modelId="{BD820CAF-877F-4654-9216-79AA0EA61437}" type="sibTrans" cxnId="{E4045A3A-D1B4-43D9-ADB3-6A05D8C7F42D}">
      <dgm:prSet/>
      <dgm:spPr/>
      <dgm:t>
        <a:bodyPr/>
        <a:lstStyle/>
        <a:p>
          <a:endParaRPr lang="en-US"/>
        </a:p>
      </dgm:t>
    </dgm:pt>
    <dgm:pt modelId="{3330350B-B7BB-41E0-B549-4BD274E6E026}">
      <dgm:prSet custT="1"/>
      <dgm:spPr/>
      <dgm:t>
        <a:bodyPr/>
        <a:lstStyle/>
        <a:p>
          <a:pPr>
            <a:buFont typeface="Wingdings" panose="05000000000000000000" pitchFamily="2" charset="2"/>
            <a:buChar char="§"/>
          </a:pPr>
          <a:r>
            <a:rPr lang="en-US" sz="1400" dirty="0"/>
            <a:t>Chemical mixing</a:t>
          </a:r>
        </a:p>
      </dgm:t>
    </dgm:pt>
    <dgm:pt modelId="{FA68060A-C06A-4FBF-AEA4-AF864ABFE4A8}" type="parTrans" cxnId="{E75E9258-30BA-4FEA-BD76-596D00A6F9F9}">
      <dgm:prSet/>
      <dgm:spPr/>
      <dgm:t>
        <a:bodyPr/>
        <a:lstStyle/>
        <a:p>
          <a:endParaRPr lang="en-US"/>
        </a:p>
      </dgm:t>
    </dgm:pt>
    <dgm:pt modelId="{2ABB79C1-473D-40DB-9EE9-408A15E0A8A0}" type="sibTrans" cxnId="{E75E9258-30BA-4FEA-BD76-596D00A6F9F9}">
      <dgm:prSet/>
      <dgm:spPr/>
      <dgm:t>
        <a:bodyPr/>
        <a:lstStyle/>
        <a:p>
          <a:endParaRPr lang="en-US"/>
        </a:p>
      </dgm:t>
    </dgm:pt>
    <dgm:pt modelId="{B392E7DF-690D-4F2D-9909-29D7A8FBE9BC}">
      <dgm:prSet custT="1"/>
      <dgm:spPr/>
      <dgm:t>
        <a:bodyPr/>
        <a:lstStyle/>
        <a:p>
          <a:pPr>
            <a:buFont typeface="Wingdings" panose="05000000000000000000" pitchFamily="2" charset="2"/>
            <a:buChar char="§"/>
          </a:pPr>
          <a:r>
            <a:rPr lang="en-US" sz="1400" dirty="0"/>
            <a:t>Dispersions &amp; Emulsions</a:t>
          </a:r>
        </a:p>
      </dgm:t>
    </dgm:pt>
    <dgm:pt modelId="{B3F573B1-18E0-447D-91D9-E971D0D5448D}" type="parTrans" cxnId="{5E46EE79-D800-4F80-A646-2D01CFD9BB03}">
      <dgm:prSet/>
      <dgm:spPr/>
      <dgm:t>
        <a:bodyPr/>
        <a:lstStyle/>
        <a:p>
          <a:endParaRPr lang="en-US"/>
        </a:p>
      </dgm:t>
    </dgm:pt>
    <dgm:pt modelId="{F3C0D7C7-6427-46F1-95E6-6FA526B87EDB}" type="sibTrans" cxnId="{5E46EE79-D800-4F80-A646-2D01CFD9BB03}">
      <dgm:prSet/>
      <dgm:spPr/>
      <dgm:t>
        <a:bodyPr/>
        <a:lstStyle/>
        <a:p>
          <a:endParaRPr lang="en-US"/>
        </a:p>
      </dgm:t>
    </dgm:pt>
    <dgm:pt modelId="{E63DBE19-12CC-4078-A525-78F334FE93EF}">
      <dgm:prSet custT="1"/>
      <dgm:spPr/>
      <dgm:t>
        <a:bodyPr/>
        <a:lstStyle/>
        <a:p>
          <a:pPr>
            <a:buFont typeface="Wingdings" panose="05000000000000000000" pitchFamily="2" charset="2"/>
            <a:buChar char="§"/>
          </a:pPr>
          <a:r>
            <a:rPr lang="en-US" sz="1400" dirty="0"/>
            <a:t>Focus on Production chemicals &amp; Drilling Products</a:t>
          </a:r>
        </a:p>
      </dgm:t>
    </dgm:pt>
    <dgm:pt modelId="{639E6060-E965-46A2-8CE9-FABE27EBB8E4}" type="parTrans" cxnId="{E0FD4A5D-95C7-4B68-BC95-7AB1A8044F7C}">
      <dgm:prSet/>
      <dgm:spPr/>
      <dgm:t>
        <a:bodyPr/>
        <a:lstStyle/>
        <a:p>
          <a:endParaRPr lang="en-US"/>
        </a:p>
      </dgm:t>
    </dgm:pt>
    <dgm:pt modelId="{4A10033B-FAE5-4219-B699-51357BDE5130}" type="sibTrans" cxnId="{E0FD4A5D-95C7-4B68-BC95-7AB1A8044F7C}">
      <dgm:prSet/>
      <dgm:spPr/>
      <dgm:t>
        <a:bodyPr/>
        <a:lstStyle/>
        <a:p>
          <a:endParaRPr lang="en-US"/>
        </a:p>
      </dgm:t>
    </dgm:pt>
    <dgm:pt modelId="{3B806142-72DC-430E-8C65-D5406728925C}">
      <dgm:prSet custT="1"/>
      <dgm:spPr/>
      <dgm:t>
        <a:bodyPr/>
        <a:lstStyle/>
        <a:p>
          <a:pPr>
            <a:buFont typeface="Wingdings" panose="05000000000000000000" pitchFamily="2" charset="2"/>
            <a:buChar char="§"/>
          </a:pPr>
          <a:r>
            <a:rPr lang="en-US" sz="1400" dirty="0"/>
            <a:t>Analytical capabilities and product customization</a:t>
          </a:r>
        </a:p>
      </dgm:t>
    </dgm:pt>
    <dgm:pt modelId="{EB8C4CD4-6E0B-4F49-8EAE-137CAC39D546}" type="parTrans" cxnId="{ADC3572C-3907-4741-801D-73E46D1572E5}">
      <dgm:prSet/>
      <dgm:spPr/>
      <dgm:t>
        <a:bodyPr/>
        <a:lstStyle/>
        <a:p>
          <a:endParaRPr lang="en-US"/>
        </a:p>
      </dgm:t>
    </dgm:pt>
    <dgm:pt modelId="{C0D38F87-0035-4399-A4E5-D2C6FDD69AA9}" type="sibTrans" cxnId="{ADC3572C-3907-4741-801D-73E46D1572E5}">
      <dgm:prSet/>
      <dgm:spPr/>
      <dgm:t>
        <a:bodyPr/>
        <a:lstStyle/>
        <a:p>
          <a:endParaRPr lang="en-US"/>
        </a:p>
      </dgm:t>
    </dgm:pt>
    <dgm:pt modelId="{89E3AA66-F423-444C-9C4D-AC22E65FEBF1}">
      <dgm:prSet custT="1"/>
      <dgm:spPr/>
      <dgm:t>
        <a:bodyPr/>
        <a:lstStyle/>
        <a:p>
          <a:r>
            <a:rPr lang="en-US" sz="2400" dirty="0"/>
            <a:t>Phase 2</a:t>
          </a:r>
        </a:p>
      </dgm:t>
    </dgm:pt>
    <dgm:pt modelId="{AA56B454-ED0C-4A5C-AFB3-45ED72053222}" type="parTrans" cxnId="{2F73452F-EF74-4765-A4B4-FB797EA857C3}">
      <dgm:prSet/>
      <dgm:spPr/>
      <dgm:t>
        <a:bodyPr/>
        <a:lstStyle/>
        <a:p>
          <a:endParaRPr lang="en-US"/>
        </a:p>
      </dgm:t>
    </dgm:pt>
    <dgm:pt modelId="{057561CC-85CA-4A0F-B160-F5E06648791D}" type="sibTrans" cxnId="{2F73452F-EF74-4765-A4B4-FB797EA857C3}">
      <dgm:prSet/>
      <dgm:spPr/>
      <dgm:t>
        <a:bodyPr/>
        <a:lstStyle/>
        <a:p>
          <a:endParaRPr lang="en-US"/>
        </a:p>
      </dgm:t>
    </dgm:pt>
    <dgm:pt modelId="{52E4E355-F5C7-4367-A004-D99C8F1A234D}">
      <dgm:prSet custT="1"/>
      <dgm:spPr/>
      <dgm:t>
        <a:bodyPr/>
        <a:lstStyle/>
        <a:p>
          <a:pPr>
            <a:buNone/>
          </a:pPr>
          <a:r>
            <a:rPr lang="en-US" sz="1600" b="1" dirty="0"/>
            <a:t>Blending and Chemical Reactions </a:t>
          </a:r>
        </a:p>
      </dgm:t>
    </dgm:pt>
    <dgm:pt modelId="{A452776F-F6C0-400E-B141-08FB6749DEC0}" type="parTrans" cxnId="{1D2641EA-06B6-4CC4-9A71-5359B6CD1104}">
      <dgm:prSet/>
      <dgm:spPr/>
      <dgm:t>
        <a:bodyPr/>
        <a:lstStyle/>
        <a:p>
          <a:endParaRPr lang="en-US"/>
        </a:p>
      </dgm:t>
    </dgm:pt>
    <dgm:pt modelId="{7AF0B760-E9FC-4E06-A6EA-08EBFE858CC4}" type="sibTrans" cxnId="{1D2641EA-06B6-4CC4-9A71-5359B6CD1104}">
      <dgm:prSet/>
      <dgm:spPr/>
      <dgm:t>
        <a:bodyPr/>
        <a:lstStyle/>
        <a:p>
          <a:endParaRPr lang="en-US"/>
        </a:p>
      </dgm:t>
    </dgm:pt>
    <dgm:pt modelId="{45A5E198-79EF-41DD-B672-1B9E87F6AA25}">
      <dgm:prSet custT="1"/>
      <dgm:spPr/>
      <dgm:t>
        <a:bodyPr/>
        <a:lstStyle/>
        <a:p>
          <a:pPr>
            <a:buFont typeface="Wingdings" panose="05000000000000000000" pitchFamily="2" charset="2"/>
            <a:buChar char="§"/>
          </a:pPr>
          <a:r>
            <a:rPr lang="en-US" sz="1400" dirty="0"/>
            <a:t>Creating new molecular entities through chemical reactions of gaseous, liquid or solid raw materials</a:t>
          </a:r>
        </a:p>
      </dgm:t>
    </dgm:pt>
    <dgm:pt modelId="{7F1D2FD0-7899-4752-8E26-9F5EE9856562}" type="parTrans" cxnId="{C9E7F04E-C467-4A34-994B-DBD735139257}">
      <dgm:prSet/>
      <dgm:spPr/>
      <dgm:t>
        <a:bodyPr/>
        <a:lstStyle/>
        <a:p>
          <a:endParaRPr lang="en-US"/>
        </a:p>
      </dgm:t>
    </dgm:pt>
    <dgm:pt modelId="{DE7EAB16-969E-407B-95F1-5958E9C9E484}" type="sibTrans" cxnId="{C9E7F04E-C467-4A34-994B-DBD735139257}">
      <dgm:prSet/>
      <dgm:spPr/>
      <dgm:t>
        <a:bodyPr/>
        <a:lstStyle/>
        <a:p>
          <a:endParaRPr lang="en-US"/>
        </a:p>
      </dgm:t>
    </dgm:pt>
    <dgm:pt modelId="{61D285CF-15C8-4584-863E-808CCCF49B1E}">
      <dgm:prSet custT="1"/>
      <dgm:spPr/>
      <dgm:t>
        <a:bodyPr/>
        <a:lstStyle/>
        <a:p>
          <a:pPr>
            <a:buFont typeface="Wingdings" panose="05000000000000000000" pitchFamily="2" charset="2"/>
            <a:buChar char="§"/>
          </a:pPr>
          <a:r>
            <a:rPr lang="en-US" sz="1400" dirty="0"/>
            <a:t>Advance analytical capabilities</a:t>
          </a:r>
        </a:p>
      </dgm:t>
    </dgm:pt>
    <dgm:pt modelId="{A9A9B355-9C4C-467C-8DD7-C40F81D0A7DB}" type="parTrans" cxnId="{935648C2-1419-45BC-9A03-D6110F4930D9}">
      <dgm:prSet/>
      <dgm:spPr/>
      <dgm:t>
        <a:bodyPr/>
        <a:lstStyle/>
        <a:p>
          <a:endParaRPr lang="en-US"/>
        </a:p>
      </dgm:t>
    </dgm:pt>
    <dgm:pt modelId="{107C1894-ABF2-402A-9B2A-BC87BC423D0A}" type="sibTrans" cxnId="{935648C2-1419-45BC-9A03-D6110F4930D9}">
      <dgm:prSet/>
      <dgm:spPr/>
      <dgm:t>
        <a:bodyPr/>
        <a:lstStyle/>
        <a:p>
          <a:endParaRPr lang="en-US"/>
        </a:p>
      </dgm:t>
    </dgm:pt>
    <dgm:pt modelId="{F6AB90DB-A5CF-4DAD-A1E2-A7BF2EB4FEE5}">
      <dgm:prSet custT="1"/>
      <dgm:spPr/>
      <dgm:t>
        <a:bodyPr/>
        <a:lstStyle/>
        <a:p>
          <a:r>
            <a:rPr lang="en-US" sz="2400" dirty="0"/>
            <a:t>Phase 3</a:t>
          </a:r>
        </a:p>
      </dgm:t>
    </dgm:pt>
    <dgm:pt modelId="{BCF70657-B697-488E-9E91-F8606D5C2F5F}" type="parTrans" cxnId="{9FB1D571-B785-4FD3-A2E9-7C7EBDB13B5A}">
      <dgm:prSet/>
      <dgm:spPr/>
      <dgm:t>
        <a:bodyPr/>
        <a:lstStyle/>
        <a:p>
          <a:endParaRPr lang="en-US"/>
        </a:p>
      </dgm:t>
    </dgm:pt>
    <dgm:pt modelId="{2AD6A44E-7618-41BC-8588-D2EC62E0005E}" type="sibTrans" cxnId="{9FB1D571-B785-4FD3-A2E9-7C7EBDB13B5A}">
      <dgm:prSet/>
      <dgm:spPr/>
      <dgm:t>
        <a:bodyPr/>
        <a:lstStyle/>
        <a:p>
          <a:endParaRPr lang="en-US"/>
        </a:p>
      </dgm:t>
    </dgm:pt>
    <dgm:pt modelId="{B3D9586E-E903-4F94-B7E0-698C237381F7}">
      <dgm:prSet custT="1"/>
      <dgm:spPr/>
      <dgm:t>
        <a:bodyPr/>
        <a:lstStyle/>
        <a:p>
          <a:pPr>
            <a:buNone/>
          </a:pPr>
          <a:r>
            <a:rPr lang="en-US" sz="1600" b="1" dirty="0"/>
            <a:t>Product Development</a:t>
          </a:r>
        </a:p>
      </dgm:t>
    </dgm:pt>
    <dgm:pt modelId="{1018E1BB-9986-4E2D-B89E-37D203A8929E}" type="parTrans" cxnId="{C5BE697B-ADB9-4DD7-B318-8CEE08AA0779}">
      <dgm:prSet/>
      <dgm:spPr/>
      <dgm:t>
        <a:bodyPr/>
        <a:lstStyle/>
        <a:p>
          <a:endParaRPr lang="en-US"/>
        </a:p>
      </dgm:t>
    </dgm:pt>
    <dgm:pt modelId="{28142AF0-FEFF-4B6A-9917-A88EA9ABE80C}" type="sibTrans" cxnId="{C5BE697B-ADB9-4DD7-B318-8CEE08AA0779}">
      <dgm:prSet/>
      <dgm:spPr/>
      <dgm:t>
        <a:bodyPr/>
        <a:lstStyle/>
        <a:p>
          <a:endParaRPr lang="en-US"/>
        </a:p>
      </dgm:t>
    </dgm:pt>
    <dgm:pt modelId="{1ED32AB8-F01B-4BF2-AD10-BB2899738668}">
      <dgm:prSet custT="1"/>
      <dgm:spPr/>
      <dgm:t>
        <a:bodyPr/>
        <a:lstStyle/>
        <a:p>
          <a:pPr>
            <a:buFont typeface="Wingdings" panose="05000000000000000000" pitchFamily="2" charset="2"/>
            <a:buChar char="§"/>
          </a:pPr>
          <a:r>
            <a:rPr lang="en-US" sz="1400" dirty="0"/>
            <a:t>Synthesis and process development</a:t>
          </a:r>
        </a:p>
      </dgm:t>
    </dgm:pt>
    <dgm:pt modelId="{7F06BC00-F824-4BB2-BCA2-1D65039E89FE}" type="parTrans" cxnId="{71561C32-610D-45C6-93F5-4F8EAC4B3318}">
      <dgm:prSet/>
      <dgm:spPr/>
      <dgm:t>
        <a:bodyPr/>
        <a:lstStyle/>
        <a:p>
          <a:endParaRPr lang="en-US"/>
        </a:p>
      </dgm:t>
    </dgm:pt>
    <dgm:pt modelId="{05CF88B4-A740-430B-BCC4-AFED4C0F7390}" type="sibTrans" cxnId="{71561C32-610D-45C6-93F5-4F8EAC4B3318}">
      <dgm:prSet/>
      <dgm:spPr/>
      <dgm:t>
        <a:bodyPr/>
        <a:lstStyle/>
        <a:p>
          <a:endParaRPr lang="en-US"/>
        </a:p>
      </dgm:t>
    </dgm:pt>
    <dgm:pt modelId="{E93F1101-7756-4A9F-9B38-0CE5F7F00E03}">
      <dgm:prSet custT="1"/>
      <dgm:spPr/>
      <dgm:t>
        <a:bodyPr/>
        <a:lstStyle/>
        <a:p>
          <a:pPr>
            <a:buFont typeface="Wingdings" panose="05000000000000000000" pitchFamily="2" charset="2"/>
            <a:buChar char="§"/>
          </a:pPr>
          <a:r>
            <a:rPr lang="en-US" sz="1400" dirty="0"/>
            <a:t>Applications testing lab</a:t>
          </a:r>
        </a:p>
      </dgm:t>
    </dgm:pt>
    <dgm:pt modelId="{B95B9A23-3C67-4074-B850-92B8BC05AF5A}" type="parTrans" cxnId="{1A148DB8-EF07-4280-AE36-C252EA5B5650}">
      <dgm:prSet/>
      <dgm:spPr/>
      <dgm:t>
        <a:bodyPr/>
        <a:lstStyle/>
        <a:p>
          <a:endParaRPr lang="en-US"/>
        </a:p>
      </dgm:t>
    </dgm:pt>
    <dgm:pt modelId="{7CAFA1E8-7407-4D95-87C8-52EE9EE23F72}" type="sibTrans" cxnId="{1A148DB8-EF07-4280-AE36-C252EA5B5650}">
      <dgm:prSet/>
      <dgm:spPr/>
      <dgm:t>
        <a:bodyPr/>
        <a:lstStyle/>
        <a:p>
          <a:endParaRPr lang="en-US"/>
        </a:p>
      </dgm:t>
    </dgm:pt>
    <dgm:pt modelId="{23B5CD89-B7F3-462E-9EEF-06EE5F8FF543}">
      <dgm:prSet custT="1"/>
      <dgm:spPr/>
      <dgm:t>
        <a:bodyPr/>
        <a:lstStyle/>
        <a:p>
          <a:pPr>
            <a:buFont typeface="Wingdings" panose="05000000000000000000" pitchFamily="2" charset="2"/>
            <a:buChar char="§"/>
          </a:pPr>
          <a:r>
            <a:rPr lang="en-US" sz="1400" dirty="0"/>
            <a:t>Scale up and pilot plant facilities</a:t>
          </a:r>
        </a:p>
      </dgm:t>
    </dgm:pt>
    <dgm:pt modelId="{DA42DCC7-4E15-4E9F-8B27-4F616EA18091}" type="parTrans" cxnId="{24871BEC-7499-4420-9214-8629403513D0}">
      <dgm:prSet/>
      <dgm:spPr/>
      <dgm:t>
        <a:bodyPr/>
        <a:lstStyle/>
        <a:p>
          <a:endParaRPr lang="en-US"/>
        </a:p>
      </dgm:t>
    </dgm:pt>
    <dgm:pt modelId="{945123AF-A7E2-436E-8C41-83FCDF70D1DC}" type="sibTrans" cxnId="{24871BEC-7499-4420-9214-8629403513D0}">
      <dgm:prSet/>
      <dgm:spPr/>
      <dgm:t>
        <a:bodyPr/>
        <a:lstStyle/>
        <a:p>
          <a:endParaRPr lang="en-US"/>
        </a:p>
      </dgm:t>
    </dgm:pt>
    <dgm:pt modelId="{7CF40C83-E7C8-4CC8-9ABA-5F2A90A7FDDC}" type="pres">
      <dgm:prSet presAssocID="{02C032BF-2B72-4861-B138-9D8E5F1FEDDE}" presName="Name0" presStyleCnt="0">
        <dgm:presLayoutVars>
          <dgm:dir/>
          <dgm:animLvl val="lvl"/>
          <dgm:resizeHandles val="exact"/>
        </dgm:presLayoutVars>
      </dgm:prSet>
      <dgm:spPr/>
    </dgm:pt>
    <dgm:pt modelId="{E0BC396A-BDB5-4659-B344-AB8B38BEF4B5}" type="pres">
      <dgm:prSet presAssocID="{6AE9D813-4738-473A-9157-EF93446EAAC4}" presName="composite" presStyleCnt="0"/>
      <dgm:spPr/>
    </dgm:pt>
    <dgm:pt modelId="{A3207267-C849-43BF-9007-96DEB85F8940}" type="pres">
      <dgm:prSet presAssocID="{6AE9D813-4738-473A-9157-EF93446EAAC4}" presName="parTx" presStyleLbl="alignNode1" presStyleIdx="0" presStyleCnt="3">
        <dgm:presLayoutVars>
          <dgm:chMax val="0"/>
          <dgm:chPref val="0"/>
        </dgm:presLayoutVars>
      </dgm:prSet>
      <dgm:spPr/>
    </dgm:pt>
    <dgm:pt modelId="{9F729971-CB9A-4FD1-AD1D-33529A87876A}" type="pres">
      <dgm:prSet presAssocID="{6AE9D813-4738-473A-9157-EF93446EAAC4}" presName="desTx" presStyleLbl="alignAccFollowNode1" presStyleIdx="0" presStyleCnt="3">
        <dgm:presLayoutVars/>
      </dgm:prSet>
      <dgm:spPr/>
    </dgm:pt>
    <dgm:pt modelId="{9F6563E2-F237-4D92-B4C4-5B77BB2E5221}" type="pres">
      <dgm:prSet presAssocID="{A9176595-6AD2-4403-A6FE-E5F17E76FB55}" presName="space" presStyleCnt="0"/>
      <dgm:spPr/>
    </dgm:pt>
    <dgm:pt modelId="{D65DFD8E-5DDA-4E04-9C09-90CCBE09514A}" type="pres">
      <dgm:prSet presAssocID="{89E3AA66-F423-444C-9C4D-AC22E65FEBF1}" presName="composite" presStyleCnt="0"/>
      <dgm:spPr/>
    </dgm:pt>
    <dgm:pt modelId="{AD0852B2-8724-47BF-AAB1-C98848C112AF}" type="pres">
      <dgm:prSet presAssocID="{89E3AA66-F423-444C-9C4D-AC22E65FEBF1}" presName="parTx" presStyleLbl="alignNode1" presStyleIdx="1" presStyleCnt="3">
        <dgm:presLayoutVars>
          <dgm:chMax val="0"/>
          <dgm:chPref val="0"/>
        </dgm:presLayoutVars>
      </dgm:prSet>
      <dgm:spPr/>
    </dgm:pt>
    <dgm:pt modelId="{1DF57555-8BCB-4815-BC5A-E2ED9377E6EF}" type="pres">
      <dgm:prSet presAssocID="{89E3AA66-F423-444C-9C4D-AC22E65FEBF1}" presName="desTx" presStyleLbl="alignAccFollowNode1" presStyleIdx="1" presStyleCnt="3">
        <dgm:presLayoutVars/>
      </dgm:prSet>
      <dgm:spPr/>
    </dgm:pt>
    <dgm:pt modelId="{899883D2-45F3-4385-A815-241463E1C483}" type="pres">
      <dgm:prSet presAssocID="{057561CC-85CA-4A0F-B160-F5E06648791D}" presName="space" presStyleCnt="0"/>
      <dgm:spPr/>
    </dgm:pt>
    <dgm:pt modelId="{041FD7BD-8E25-4BC4-BC61-7A6DA25C0647}" type="pres">
      <dgm:prSet presAssocID="{F6AB90DB-A5CF-4DAD-A1E2-A7BF2EB4FEE5}" presName="composite" presStyleCnt="0"/>
      <dgm:spPr/>
    </dgm:pt>
    <dgm:pt modelId="{D7FCE641-3744-41AD-9C1D-098088738380}" type="pres">
      <dgm:prSet presAssocID="{F6AB90DB-A5CF-4DAD-A1E2-A7BF2EB4FEE5}" presName="parTx" presStyleLbl="alignNode1" presStyleIdx="2" presStyleCnt="3">
        <dgm:presLayoutVars>
          <dgm:chMax val="0"/>
          <dgm:chPref val="0"/>
        </dgm:presLayoutVars>
      </dgm:prSet>
      <dgm:spPr/>
    </dgm:pt>
    <dgm:pt modelId="{B4B9D8A5-E63B-4B2F-A796-7402416000C2}" type="pres">
      <dgm:prSet presAssocID="{F6AB90DB-A5CF-4DAD-A1E2-A7BF2EB4FEE5}" presName="desTx" presStyleLbl="alignAccFollowNode1" presStyleIdx="2" presStyleCnt="3">
        <dgm:presLayoutVars/>
      </dgm:prSet>
      <dgm:spPr/>
    </dgm:pt>
  </dgm:ptLst>
  <dgm:cxnLst>
    <dgm:cxn modelId="{2E02A702-77C9-47C4-8E70-938F140C624E}" type="presOf" srcId="{61D285CF-15C8-4584-863E-808CCCF49B1E}" destId="{1DF57555-8BCB-4815-BC5A-E2ED9377E6EF}" srcOrd="0" destOrd="2" presId="urn:microsoft.com/office/officeart/2016/7/layout/ChevronBlockProcess"/>
    <dgm:cxn modelId="{AF35421C-2057-433E-B243-32C717571353}" type="presOf" srcId="{23B5CD89-B7F3-462E-9EEF-06EE5F8FF543}" destId="{B4B9D8A5-E63B-4B2F-A796-7402416000C2}" srcOrd="0" destOrd="3" presId="urn:microsoft.com/office/officeart/2016/7/layout/ChevronBlockProcess"/>
    <dgm:cxn modelId="{3F7D901E-DBF0-43F6-BB75-D1833368F084}" type="presOf" srcId="{F6AB90DB-A5CF-4DAD-A1E2-A7BF2EB4FEE5}" destId="{D7FCE641-3744-41AD-9C1D-098088738380}" srcOrd="0" destOrd="0" presId="urn:microsoft.com/office/officeart/2016/7/layout/ChevronBlockProcess"/>
    <dgm:cxn modelId="{ADC3572C-3907-4741-801D-73E46D1572E5}" srcId="{B6EFAF28-D8A0-421B-B405-54AE26871F02}" destId="{3B806142-72DC-430E-8C65-D5406728925C}" srcOrd="3" destOrd="0" parTransId="{EB8C4CD4-6E0B-4F49-8EAE-137CAC39D546}" sibTransId="{C0D38F87-0035-4399-A4E5-D2C6FDD69AA9}"/>
    <dgm:cxn modelId="{2F73452F-EF74-4765-A4B4-FB797EA857C3}" srcId="{02C032BF-2B72-4861-B138-9D8E5F1FEDDE}" destId="{89E3AA66-F423-444C-9C4D-AC22E65FEBF1}" srcOrd="1" destOrd="0" parTransId="{AA56B454-ED0C-4A5C-AFB3-45ED72053222}" sibTransId="{057561CC-85CA-4A0F-B160-F5E06648791D}"/>
    <dgm:cxn modelId="{71561C32-610D-45C6-93F5-4F8EAC4B3318}" srcId="{B3D9586E-E903-4F94-B7E0-698C237381F7}" destId="{1ED32AB8-F01B-4BF2-AD10-BB2899738668}" srcOrd="0" destOrd="0" parTransId="{7F06BC00-F824-4BB2-BCA2-1D65039E89FE}" sibTransId="{05CF88B4-A740-430B-BCC4-AFED4C0F7390}"/>
    <dgm:cxn modelId="{8C4FA234-EE02-4BFC-BA03-8A4344F25B94}" type="presOf" srcId="{B3D9586E-E903-4F94-B7E0-698C237381F7}" destId="{B4B9D8A5-E63B-4B2F-A796-7402416000C2}" srcOrd="0" destOrd="0" presId="urn:microsoft.com/office/officeart/2016/7/layout/ChevronBlockProcess"/>
    <dgm:cxn modelId="{E4045A3A-D1B4-43D9-ADB3-6A05D8C7F42D}" srcId="{6AE9D813-4738-473A-9157-EF93446EAAC4}" destId="{B6EFAF28-D8A0-421B-B405-54AE26871F02}" srcOrd="0" destOrd="0" parTransId="{CBC86211-5A9B-44B5-A88C-55D033C83551}" sibTransId="{BD820CAF-877F-4654-9216-79AA0EA61437}"/>
    <dgm:cxn modelId="{E0FD4A5D-95C7-4B68-BC95-7AB1A8044F7C}" srcId="{B6EFAF28-D8A0-421B-B405-54AE26871F02}" destId="{E63DBE19-12CC-4078-A525-78F334FE93EF}" srcOrd="2" destOrd="0" parTransId="{639E6060-E965-46A2-8CE9-FABE27EBB8E4}" sibTransId="{4A10033B-FAE5-4219-B699-51357BDE5130}"/>
    <dgm:cxn modelId="{9E74615F-DC73-48BD-BE9F-C1D67ABFDD3E}" srcId="{02C032BF-2B72-4861-B138-9D8E5F1FEDDE}" destId="{6AE9D813-4738-473A-9157-EF93446EAAC4}" srcOrd="0" destOrd="0" parTransId="{467266A2-C8F1-4B61-AD0F-A1F4ADCAFB1D}" sibTransId="{A9176595-6AD2-4403-A6FE-E5F17E76FB55}"/>
    <dgm:cxn modelId="{C9E7F04E-C467-4A34-994B-DBD735139257}" srcId="{52E4E355-F5C7-4367-A004-D99C8F1A234D}" destId="{45A5E198-79EF-41DD-B672-1B9E87F6AA25}" srcOrd="0" destOrd="0" parTransId="{7F1D2FD0-7899-4752-8E26-9F5EE9856562}" sibTransId="{DE7EAB16-969E-407B-95F1-5958E9C9E484}"/>
    <dgm:cxn modelId="{9FB1D571-B785-4FD3-A2E9-7C7EBDB13B5A}" srcId="{02C032BF-2B72-4861-B138-9D8E5F1FEDDE}" destId="{F6AB90DB-A5CF-4DAD-A1E2-A7BF2EB4FEE5}" srcOrd="2" destOrd="0" parTransId="{BCF70657-B697-488E-9E91-F8606D5C2F5F}" sibTransId="{2AD6A44E-7618-41BC-8588-D2EC62E0005E}"/>
    <dgm:cxn modelId="{88C69C77-84B5-4D56-82E9-984A823E6871}" type="presOf" srcId="{E63DBE19-12CC-4078-A525-78F334FE93EF}" destId="{9F729971-CB9A-4FD1-AD1D-33529A87876A}" srcOrd="0" destOrd="3" presId="urn:microsoft.com/office/officeart/2016/7/layout/ChevronBlockProcess"/>
    <dgm:cxn modelId="{E75E9258-30BA-4FEA-BD76-596D00A6F9F9}" srcId="{B6EFAF28-D8A0-421B-B405-54AE26871F02}" destId="{3330350B-B7BB-41E0-B549-4BD274E6E026}" srcOrd="0" destOrd="0" parTransId="{FA68060A-C06A-4FBF-AEA4-AF864ABFE4A8}" sibTransId="{2ABB79C1-473D-40DB-9EE9-408A15E0A8A0}"/>
    <dgm:cxn modelId="{5E46EE79-D800-4F80-A646-2D01CFD9BB03}" srcId="{B6EFAF28-D8A0-421B-B405-54AE26871F02}" destId="{B392E7DF-690D-4F2D-9909-29D7A8FBE9BC}" srcOrd="1" destOrd="0" parTransId="{B3F573B1-18E0-447D-91D9-E971D0D5448D}" sibTransId="{F3C0D7C7-6427-46F1-95E6-6FA526B87EDB}"/>
    <dgm:cxn modelId="{EE77717A-4267-4876-90B7-DD8E48B750C8}" type="presOf" srcId="{E93F1101-7756-4A9F-9B38-0CE5F7F00E03}" destId="{B4B9D8A5-E63B-4B2F-A796-7402416000C2}" srcOrd="0" destOrd="2" presId="urn:microsoft.com/office/officeart/2016/7/layout/ChevronBlockProcess"/>
    <dgm:cxn modelId="{C5BE697B-ADB9-4DD7-B318-8CEE08AA0779}" srcId="{F6AB90DB-A5CF-4DAD-A1E2-A7BF2EB4FEE5}" destId="{B3D9586E-E903-4F94-B7E0-698C237381F7}" srcOrd="0" destOrd="0" parTransId="{1018E1BB-9986-4E2D-B89E-37D203A8929E}" sibTransId="{28142AF0-FEFF-4B6A-9917-A88EA9ABE80C}"/>
    <dgm:cxn modelId="{B14D1799-DBD1-4069-B984-43608BD56D5A}" type="presOf" srcId="{3B806142-72DC-430E-8C65-D5406728925C}" destId="{9F729971-CB9A-4FD1-AD1D-33529A87876A}" srcOrd="0" destOrd="4" presId="urn:microsoft.com/office/officeart/2016/7/layout/ChevronBlockProcess"/>
    <dgm:cxn modelId="{25351FAD-6A99-43F8-8846-8BA237C31527}" type="presOf" srcId="{52E4E355-F5C7-4367-A004-D99C8F1A234D}" destId="{1DF57555-8BCB-4815-BC5A-E2ED9377E6EF}" srcOrd="0" destOrd="0" presId="urn:microsoft.com/office/officeart/2016/7/layout/ChevronBlockProcess"/>
    <dgm:cxn modelId="{741D50AD-85CC-4F0C-A8FA-5766414B9017}" type="presOf" srcId="{45A5E198-79EF-41DD-B672-1B9E87F6AA25}" destId="{1DF57555-8BCB-4815-BC5A-E2ED9377E6EF}" srcOrd="0" destOrd="1" presId="urn:microsoft.com/office/officeart/2016/7/layout/ChevronBlockProcess"/>
    <dgm:cxn modelId="{500203B4-B935-4C9E-92EA-E6F465C4CAD7}" type="presOf" srcId="{B6EFAF28-D8A0-421B-B405-54AE26871F02}" destId="{9F729971-CB9A-4FD1-AD1D-33529A87876A}" srcOrd="0" destOrd="0" presId="urn:microsoft.com/office/officeart/2016/7/layout/ChevronBlockProcess"/>
    <dgm:cxn modelId="{1A148DB8-EF07-4280-AE36-C252EA5B5650}" srcId="{B3D9586E-E903-4F94-B7E0-698C237381F7}" destId="{E93F1101-7756-4A9F-9B38-0CE5F7F00E03}" srcOrd="1" destOrd="0" parTransId="{B95B9A23-3C67-4074-B850-92B8BC05AF5A}" sibTransId="{7CAFA1E8-7407-4D95-87C8-52EE9EE23F72}"/>
    <dgm:cxn modelId="{8EFF8CBC-9FEA-4BCF-8B58-D1AE88C3CA15}" type="presOf" srcId="{6AE9D813-4738-473A-9157-EF93446EAAC4}" destId="{A3207267-C849-43BF-9007-96DEB85F8940}" srcOrd="0" destOrd="0" presId="urn:microsoft.com/office/officeart/2016/7/layout/ChevronBlockProcess"/>
    <dgm:cxn modelId="{208247BD-9C4D-4AB7-AB61-871D24B2A8C5}" type="presOf" srcId="{02C032BF-2B72-4861-B138-9D8E5F1FEDDE}" destId="{7CF40C83-E7C8-4CC8-9ABA-5F2A90A7FDDC}" srcOrd="0" destOrd="0" presId="urn:microsoft.com/office/officeart/2016/7/layout/ChevronBlockProcess"/>
    <dgm:cxn modelId="{935648C2-1419-45BC-9A03-D6110F4930D9}" srcId="{52E4E355-F5C7-4367-A004-D99C8F1A234D}" destId="{61D285CF-15C8-4584-863E-808CCCF49B1E}" srcOrd="1" destOrd="0" parTransId="{A9A9B355-9C4C-467C-8DD7-C40F81D0A7DB}" sibTransId="{107C1894-ABF2-402A-9B2A-BC87BC423D0A}"/>
    <dgm:cxn modelId="{2560CEDA-625C-4C26-92F1-24E3111F8400}" type="presOf" srcId="{3330350B-B7BB-41E0-B549-4BD274E6E026}" destId="{9F729971-CB9A-4FD1-AD1D-33529A87876A}" srcOrd="0" destOrd="1" presId="urn:microsoft.com/office/officeart/2016/7/layout/ChevronBlockProcess"/>
    <dgm:cxn modelId="{8C8588DD-F95A-4094-B442-7FB555309523}" type="presOf" srcId="{1ED32AB8-F01B-4BF2-AD10-BB2899738668}" destId="{B4B9D8A5-E63B-4B2F-A796-7402416000C2}" srcOrd="0" destOrd="1" presId="urn:microsoft.com/office/officeart/2016/7/layout/ChevronBlockProcess"/>
    <dgm:cxn modelId="{1D2641EA-06B6-4CC4-9A71-5359B6CD1104}" srcId="{89E3AA66-F423-444C-9C4D-AC22E65FEBF1}" destId="{52E4E355-F5C7-4367-A004-D99C8F1A234D}" srcOrd="0" destOrd="0" parTransId="{A452776F-F6C0-400E-B141-08FB6749DEC0}" sibTransId="{7AF0B760-E9FC-4E06-A6EA-08EBFE858CC4}"/>
    <dgm:cxn modelId="{24871BEC-7499-4420-9214-8629403513D0}" srcId="{B3D9586E-E903-4F94-B7E0-698C237381F7}" destId="{23B5CD89-B7F3-462E-9EEF-06EE5F8FF543}" srcOrd="2" destOrd="0" parTransId="{DA42DCC7-4E15-4E9F-8B27-4F616EA18091}" sibTransId="{945123AF-A7E2-436E-8C41-83FCDF70D1DC}"/>
    <dgm:cxn modelId="{E92471F4-CE10-48BD-8368-E5657EED16B1}" type="presOf" srcId="{89E3AA66-F423-444C-9C4D-AC22E65FEBF1}" destId="{AD0852B2-8724-47BF-AAB1-C98848C112AF}" srcOrd="0" destOrd="0" presId="urn:microsoft.com/office/officeart/2016/7/layout/ChevronBlockProcess"/>
    <dgm:cxn modelId="{FF847BF8-6FBD-4D63-A756-902E0E4C3D8B}" type="presOf" srcId="{B392E7DF-690D-4F2D-9909-29D7A8FBE9BC}" destId="{9F729971-CB9A-4FD1-AD1D-33529A87876A}" srcOrd="0" destOrd="2" presId="urn:microsoft.com/office/officeart/2016/7/layout/ChevronBlockProcess"/>
    <dgm:cxn modelId="{B981887A-981F-46CC-9052-BCFB2011B49D}" type="presParOf" srcId="{7CF40C83-E7C8-4CC8-9ABA-5F2A90A7FDDC}" destId="{E0BC396A-BDB5-4659-B344-AB8B38BEF4B5}" srcOrd="0" destOrd="0" presId="urn:microsoft.com/office/officeart/2016/7/layout/ChevronBlockProcess"/>
    <dgm:cxn modelId="{811F8D2F-7833-4A2E-8352-B05D377703A8}" type="presParOf" srcId="{E0BC396A-BDB5-4659-B344-AB8B38BEF4B5}" destId="{A3207267-C849-43BF-9007-96DEB85F8940}" srcOrd="0" destOrd="0" presId="urn:microsoft.com/office/officeart/2016/7/layout/ChevronBlockProcess"/>
    <dgm:cxn modelId="{C349F51E-BC7E-4670-B35D-1C533F204EFB}" type="presParOf" srcId="{E0BC396A-BDB5-4659-B344-AB8B38BEF4B5}" destId="{9F729971-CB9A-4FD1-AD1D-33529A87876A}" srcOrd="1" destOrd="0" presId="urn:microsoft.com/office/officeart/2016/7/layout/ChevronBlockProcess"/>
    <dgm:cxn modelId="{329E096B-4DA9-4E47-979E-6E6BB11F6E45}" type="presParOf" srcId="{7CF40C83-E7C8-4CC8-9ABA-5F2A90A7FDDC}" destId="{9F6563E2-F237-4D92-B4C4-5B77BB2E5221}" srcOrd="1" destOrd="0" presId="urn:microsoft.com/office/officeart/2016/7/layout/ChevronBlockProcess"/>
    <dgm:cxn modelId="{C24F87EE-F32C-4D40-BFD4-8A5FF59B08D9}" type="presParOf" srcId="{7CF40C83-E7C8-4CC8-9ABA-5F2A90A7FDDC}" destId="{D65DFD8E-5DDA-4E04-9C09-90CCBE09514A}" srcOrd="2" destOrd="0" presId="urn:microsoft.com/office/officeart/2016/7/layout/ChevronBlockProcess"/>
    <dgm:cxn modelId="{8868BD58-92F9-486D-966F-485C9B38BF21}" type="presParOf" srcId="{D65DFD8E-5DDA-4E04-9C09-90CCBE09514A}" destId="{AD0852B2-8724-47BF-AAB1-C98848C112AF}" srcOrd="0" destOrd="0" presId="urn:microsoft.com/office/officeart/2016/7/layout/ChevronBlockProcess"/>
    <dgm:cxn modelId="{2419A007-41B9-4018-9611-069FC0384D3A}" type="presParOf" srcId="{D65DFD8E-5DDA-4E04-9C09-90CCBE09514A}" destId="{1DF57555-8BCB-4815-BC5A-E2ED9377E6EF}" srcOrd="1" destOrd="0" presId="urn:microsoft.com/office/officeart/2016/7/layout/ChevronBlockProcess"/>
    <dgm:cxn modelId="{6D95EF05-8356-4B58-BBE6-40C5DF6AA60D}" type="presParOf" srcId="{7CF40C83-E7C8-4CC8-9ABA-5F2A90A7FDDC}" destId="{899883D2-45F3-4385-A815-241463E1C483}" srcOrd="3" destOrd="0" presId="urn:microsoft.com/office/officeart/2016/7/layout/ChevronBlockProcess"/>
    <dgm:cxn modelId="{CE599274-099F-460B-A762-232F4C929FE1}" type="presParOf" srcId="{7CF40C83-E7C8-4CC8-9ABA-5F2A90A7FDDC}" destId="{041FD7BD-8E25-4BC4-BC61-7A6DA25C0647}" srcOrd="4" destOrd="0" presId="urn:microsoft.com/office/officeart/2016/7/layout/ChevronBlockProcess"/>
    <dgm:cxn modelId="{763CCC84-CAAF-4DF5-8201-AB5389F7440A}" type="presParOf" srcId="{041FD7BD-8E25-4BC4-BC61-7A6DA25C0647}" destId="{D7FCE641-3744-41AD-9C1D-098088738380}" srcOrd="0" destOrd="0" presId="urn:microsoft.com/office/officeart/2016/7/layout/ChevronBlockProcess"/>
    <dgm:cxn modelId="{0B699CC9-E2D5-4909-9B32-F66BA26F9F89}" type="presParOf" srcId="{041FD7BD-8E25-4BC4-BC61-7A6DA25C0647}" destId="{B4B9D8A5-E63B-4B2F-A796-7402416000C2}"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07267-C849-43BF-9007-96DEB85F8940}">
      <dsp:nvSpPr>
        <dsp:cNvPr id="0" name=""/>
        <dsp:cNvSpPr/>
      </dsp:nvSpPr>
      <dsp:spPr>
        <a:xfrm>
          <a:off x="2030" y="417146"/>
          <a:ext cx="1890949" cy="567284"/>
        </a:xfrm>
        <a:prstGeom prst="chevron">
          <a:avLst>
            <a:gd name="adj" fmla="val 3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1</a:t>
          </a:r>
        </a:p>
      </dsp:txBody>
      <dsp:txXfrm>
        <a:off x="172215" y="417146"/>
        <a:ext cx="1550579" cy="567284"/>
      </dsp:txXfrm>
    </dsp:sp>
    <dsp:sp modelId="{9F729971-CB9A-4FD1-AD1D-33529A87876A}">
      <dsp:nvSpPr>
        <dsp:cNvPr id="0" name=""/>
        <dsp:cNvSpPr/>
      </dsp:nvSpPr>
      <dsp:spPr>
        <a:xfrm>
          <a:off x="2030" y="984431"/>
          <a:ext cx="1720763" cy="316732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Blending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Chemical mixing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Dispersions &amp; Emulsions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Focus on Production chemicals &amp; Drilling Products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Analytical capabilities and product customization</a:t>
          </a:r>
        </a:p>
      </dsp:txBody>
      <dsp:txXfrm>
        <a:off x="2030" y="984431"/>
        <a:ext cx="1720763" cy="3167326"/>
      </dsp:txXfrm>
    </dsp:sp>
    <dsp:sp modelId="{AD0852B2-8724-47BF-AAB1-C98848C112AF}">
      <dsp:nvSpPr>
        <dsp:cNvPr id="0" name=""/>
        <dsp:cNvSpPr/>
      </dsp:nvSpPr>
      <dsp:spPr>
        <a:xfrm>
          <a:off x="1864876" y="417146"/>
          <a:ext cx="1890949" cy="567284"/>
        </a:xfrm>
        <a:prstGeom prst="chevron">
          <a:avLst>
            <a:gd name="adj" fmla="val 30000"/>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2</a:t>
          </a:r>
        </a:p>
      </dsp:txBody>
      <dsp:txXfrm>
        <a:off x="2035061" y="417146"/>
        <a:ext cx="1550579" cy="567284"/>
      </dsp:txXfrm>
    </dsp:sp>
    <dsp:sp modelId="{1DF57555-8BCB-4815-BC5A-E2ED9377E6EF}">
      <dsp:nvSpPr>
        <dsp:cNvPr id="0" name=""/>
        <dsp:cNvSpPr/>
      </dsp:nvSpPr>
      <dsp:spPr>
        <a:xfrm>
          <a:off x="1864876" y="984431"/>
          <a:ext cx="1720763" cy="3167326"/>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Blending and Chemical Reactions </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Creating new molecular entities through chemical reactions of gaseous, liquid or solid raw materials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Advance analytical capabilities</a:t>
          </a:r>
        </a:p>
      </dsp:txBody>
      <dsp:txXfrm>
        <a:off x="1864876" y="984431"/>
        <a:ext cx="1720763" cy="3167326"/>
      </dsp:txXfrm>
    </dsp:sp>
    <dsp:sp modelId="{D7FCE641-3744-41AD-9C1D-098088738380}">
      <dsp:nvSpPr>
        <dsp:cNvPr id="0" name=""/>
        <dsp:cNvSpPr/>
      </dsp:nvSpPr>
      <dsp:spPr>
        <a:xfrm>
          <a:off x="3727722" y="417146"/>
          <a:ext cx="1890949" cy="567284"/>
        </a:xfrm>
        <a:prstGeom prst="chevron">
          <a:avLst>
            <a:gd name="adj" fmla="val 30000"/>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044" tIns="70044" rIns="70044" bIns="70044" numCol="1" spcCol="1270" anchor="ctr" anchorCtr="0">
          <a:noAutofit/>
        </a:bodyPr>
        <a:lstStyle/>
        <a:p>
          <a:pPr marL="0" lvl="0" indent="0" algn="ctr" defTabSz="1066800">
            <a:lnSpc>
              <a:spcPct val="90000"/>
            </a:lnSpc>
            <a:spcBef>
              <a:spcPct val="0"/>
            </a:spcBef>
            <a:spcAft>
              <a:spcPct val="35000"/>
            </a:spcAft>
            <a:buNone/>
          </a:pPr>
          <a:r>
            <a:rPr lang="en-US" sz="2400" kern="1200" dirty="0"/>
            <a:t>Phase 3</a:t>
          </a:r>
        </a:p>
      </dsp:txBody>
      <dsp:txXfrm>
        <a:off x="3897907" y="417146"/>
        <a:ext cx="1550579" cy="567284"/>
      </dsp:txXfrm>
    </dsp:sp>
    <dsp:sp modelId="{B4B9D8A5-E63B-4B2F-A796-7402416000C2}">
      <dsp:nvSpPr>
        <dsp:cNvPr id="0" name=""/>
        <dsp:cNvSpPr/>
      </dsp:nvSpPr>
      <dsp:spPr>
        <a:xfrm>
          <a:off x="3727722" y="984431"/>
          <a:ext cx="1720763" cy="3167326"/>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979" tIns="135979" rIns="135979" bIns="271957" numCol="1" spcCol="1270" anchor="t" anchorCtr="0">
          <a:noAutofit/>
        </a:bodyPr>
        <a:lstStyle/>
        <a:p>
          <a:pPr marL="0" lvl="0" indent="0" algn="l" defTabSz="711200">
            <a:lnSpc>
              <a:spcPct val="90000"/>
            </a:lnSpc>
            <a:spcBef>
              <a:spcPct val="0"/>
            </a:spcBef>
            <a:spcAft>
              <a:spcPct val="35000"/>
            </a:spcAft>
            <a:buNone/>
          </a:pPr>
          <a:r>
            <a:rPr lang="en-US" sz="1600" b="1" kern="1200" dirty="0"/>
            <a:t>Product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Synthesis and process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Applications testing lab</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Scale up and pilot plant facilities</a:t>
          </a:r>
        </a:p>
      </dsp:txBody>
      <dsp:txXfrm>
        <a:off x="3727722" y="984431"/>
        <a:ext cx="1720763" cy="3167326"/>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95B8C-BE22-4BD0-958A-CDD2BFC695AF}" type="datetimeFigureOut">
              <a:rPr lang="en-US" smtClean="0"/>
              <a:t>8/19/2019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B462A2-B998-434A-925E-A1F983ADD133}" type="slidenum">
              <a:rPr lang="en-US" smtClean="0"/>
              <a:t>‹#›</a:t>
            </a:fld>
            <a:endParaRPr lang="en-US"/>
          </a:p>
        </p:txBody>
      </p:sp>
    </p:spTree>
    <p:extLst>
      <p:ext uri="{BB962C8B-B14F-4D97-AF65-F5344CB8AC3E}">
        <p14:creationId xmlns:p14="http://schemas.microsoft.com/office/powerpoint/2010/main" val="178739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578971-C26A-4767-8D19-AEB78D3AA23C}" type="slidenum">
              <a:rPr lang="en-US" smtClean="0"/>
              <a:t>12</a:t>
            </a:fld>
            <a:endParaRPr lang="en-US" dirty="0"/>
          </a:p>
        </p:txBody>
      </p:sp>
    </p:spTree>
    <p:extLst>
      <p:ext uri="{BB962C8B-B14F-4D97-AF65-F5344CB8AC3E}">
        <p14:creationId xmlns:p14="http://schemas.microsoft.com/office/powerpoint/2010/main" val="217224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D3A9-7A4B-47D2-B7DB-71CA6CDF82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002F35-05BE-4CFA-B32E-66A396B758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71B4A1-CD58-4B34-81C7-B8B4C9656988}"/>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A9A8B15D-2247-4B79-84E3-D4DB7DA5A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57273-0C42-4A8F-9FEF-CA926B855E98}"/>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98022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B94D-0563-450A-B09C-C812008AE6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420656-6F50-442D-A33C-848B87384E1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E2FB9-C910-4E79-87E2-16926250F43D}"/>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534DE7AC-8682-4544-81A4-3C54DF69E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19C79-A077-441F-AC34-7385094FD7F7}"/>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498009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3A92-DC16-47FE-B4E4-B2B7E3B0BD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8A99B1-B5CD-4454-B2B3-7052F75F54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75D5DEA-C01F-46DA-AB2A-BBEA6A995923}"/>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A56D9C45-0002-4591-A909-06833EC2DC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237B0-70A1-4459-97F0-226784ABF370}"/>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125268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2760-942C-49C6-B394-FE73055613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58BF4-CB83-4DD5-B644-47B75D381F1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5A794E-4379-475E-96B5-7193D231C01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F43F1-9338-490D-973A-049DDEEC5FCC}"/>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6" name="Footer Placeholder 5">
            <a:extLst>
              <a:ext uri="{FF2B5EF4-FFF2-40B4-BE49-F238E27FC236}">
                <a16:creationId xmlns:a16="http://schemas.microsoft.com/office/drawing/2014/main" id="{72E66993-D633-4736-A15E-CD9AD3526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2D9EF4-8077-4B75-904C-0D7C9AEAF7D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4244889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C457-E5E6-413F-A8FD-7FDEF26654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51BE-294D-429F-88A5-918B20C17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34B3B6-EB99-414E-BEA9-65F0758E95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9536B5-C315-44B5-8BFA-D7FBDB0784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F36A74F-CDA7-40CD-B16A-84B75C3B51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E141D5-B892-4872-9F36-3B09887259FE}"/>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8" name="Footer Placeholder 7">
            <a:extLst>
              <a:ext uri="{FF2B5EF4-FFF2-40B4-BE49-F238E27FC236}">
                <a16:creationId xmlns:a16="http://schemas.microsoft.com/office/drawing/2014/main" id="{D518163E-1DAA-4765-8D4D-CB52BC89C0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BC61F0-6300-4A4A-8BE7-F5C4ED20A4B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066466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39ED-0C83-4D8E-95A6-0E2553AA01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1A4559-85A4-45F0-8416-D966BE8826DF}"/>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4" name="Footer Placeholder 3">
            <a:extLst>
              <a:ext uri="{FF2B5EF4-FFF2-40B4-BE49-F238E27FC236}">
                <a16:creationId xmlns:a16="http://schemas.microsoft.com/office/drawing/2014/main" id="{16CACEFC-4F2E-4644-817E-E9BFB3B985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19B249-3857-4F22-853D-9F144014A49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414709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00341-9ACE-45DE-B766-4FD7DE7D7675}"/>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3" name="Footer Placeholder 2">
            <a:extLst>
              <a:ext uri="{FF2B5EF4-FFF2-40B4-BE49-F238E27FC236}">
                <a16:creationId xmlns:a16="http://schemas.microsoft.com/office/drawing/2014/main" id="{6ABB519A-1EF7-4CDC-8026-7C27C24478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A1102F-2BAB-4EC2-95C2-ADC369EB98B8}"/>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56835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AFCE-C56B-48F1-BCB8-1D038AB40F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2CA0B0-BD21-4C84-8492-1CC56BCD16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8D1D44-5312-4DA7-80D7-A0BAC37BC4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05767D5-5A41-4EC0-9741-3034653149B8}"/>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6" name="Footer Placeholder 5">
            <a:extLst>
              <a:ext uri="{FF2B5EF4-FFF2-40B4-BE49-F238E27FC236}">
                <a16:creationId xmlns:a16="http://schemas.microsoft.com/office/drawing/2014/main" id="{E5164BC6-1980-4072-A81A-34DF6B115A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22C6B4-F179-4DAD-857B-7D4ABBD2CC6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94726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D44B-0944-44BE-A160-AE8EBB5F7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4450E9-2E0B-4832-B935-55A4C08658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5B035B-7A27-4EE6-825A-F64B6ADD6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047B9B-EC69-45E8-8DE7-4959E80F12C4}"/>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6" name="Footer Placeholder 5">
            <a:extLst>
              <a:ext uri="{FF2B5EF4-FFF2-40B4-BE49-F238E27FC236}">
                <a16:creationId xmlns:a16="http://schemas.microsoft.com/office/drawing/2014/main" id="{0BE0509E-DCF0-4E33-8DA9-D75F6BC894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891C9-B7E5-4CB8-A998-A3767F52388B}"/>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94456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F7176-15E2-41E1-B989-17346AB470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3AE147-5EEF-4833-B5E1-EE219E15016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B72FA-B314-462A-910C-86464561740F}"/>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C9CF8ED7-4996-4F7E-BE50-1B294B841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B64EB7-4FC4-4333-8182-7940CA9481B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055555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9729A-8F22-4FE3-B7DD-7C51F9EBFC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F8CB86-60DF-47DE-9D55-526D5B75396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92E38-3BA7-4461-B2DD-C258BF7171BA}"/>
              </a:ext>
            </a:extLst>
          </p:cNvPr>
          <p:cNvSpPr>
            <a:spLocks noGrp="1"/>
          </p:cNvSpPr>
          <p:nvPr>
            <p:ph type="dt" sz="half" idx="10"/>
          </p:nvPr>
        </p:nvSpPr>
        <p:spPr/>
        <p:txBody>
          <a:body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DCA71C77-946C-415B-9867-AD8711A57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F332CF-CA77-40D4-BED1-C34E3C99626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313181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555665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D11B5-3881-4E87-89B6-9982D0A1C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77D6D4-AC10-46FB-8360-1FDB1C159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C390EA-D1F8-4CC3-85E4-EF99F3C48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01C34-3908-4D2B-8265-168472951D8A}" type="datetimeFigureOut">
              <a:rPr lang="en-US" smtClean="0"/>
              <a:t>8/19/2019</a:t>
            </a:fld>
            <a:endParaRPr lang="en-US"/>
          </a:p>
        </p:txBody>
      </p:sp>
      <p:sp>
        <p:nvSpPr>
          <p:cNvPr id="5" name="Footer Placeholder 4">
            <a:extLst>
              <a:ext uri="{FF2B5EF4-FFF2-40B4-BE49-F238E27FC236}">
                <a16:creationId xmlns:a16="http://schemas.microsoft.com/office/drawing/2014/main" id="{3830C0C6-9D2F-4D83-A9B1-AD0F2BA477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5DE10C-E6CC-4B8E-B563-A14EFBEF3A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3C805-7ED9-4746-AF73-F2C06CA6377E}" type="slidenum">
              <a:rPr lang="en-US" smtClean="0"/>
              <a:t>‹#›</a:t>
            </a:fld>
            <a:endParaRPr lang="en-US"/>
          </a:p>
        </p:txBody>
      </p:sp>
    </p:spTree>
    <p:extLst>
      <p:ext uri="{BB962C8B-B14F-4D97-AF65-F5344CB8AC3E}">
        <p14:creationId xmlns:p14="http://schemas.microsoft.com/office/powerpoint/2010/main" val="531013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5.jpg"/><Relationship Id="rId4" Type="http://schemas.openxmlformats.org/officeDocument/2006/relationships/diagramLayout" Target="../diagrams/layout1.xml"/><Relationship Id="rId9"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mond 1"/>
          <p:cNvSpPr/>
          <p:nvPr/>
        </p:nvSpPr>
        <p:spPr>
          <a:xfrm>
            <a:off x="0" y="0"/>
            <a:ext cx="6274192" cy="6119445"/>
          </a:xfrm>
          <a:prstGeom prst="diamond">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mond 2"/>
          <p:cNvSpPr/>
          <p:nvPr/>
        </p:nvSpPr>
        <p:spPr>
          <a:xfrm>
            <a:off x="3123027" y="2546253"/>
            <a:ext cx="2869810" cy="2843719"/>
          </a:xfrm>
          <a:prstGeom prst="diamond">
            <a:avLst/>
          </a:prstGeom>
          <a:noFill/>
          <a:ln w="254000" cmpd="sng">
            <a:solidFill>
              <a:srgbClr val="853227">
                <a:alpha val="6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rot="18896419">
            <a:off x="9534671" y="3600337"/>
            <a:ext cx="2152357" cy="2319635"/>
          </a:xfrm>
          <a:prstGeom prst="rect">
            <a:avLst/>
          </a:prstGeom>
          <a:solidFill>
            <a:srgbClr val="5C6D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629025" y="5761534"/>
            <a:ext cx="7048500" cy="579646"/>
          </a:xfrm>
          <a:prstGeom prst="rect">
            <a:avLst/>
          </a:prstGeom>
        </p:spPr>
        <p:txBody>
          <a:bodyPr wrap="square">
            <a:spAutoFit/>
          </a:bodyPr>
          <a:lstStyle/>
          <a:p>
            <a:pPr>
              <a:lnSpc>
                <a:spcPts val="3800"/>
              </a:lnSpc>
            </a:pPr>
            <a:r>
              <a:rPr lang="en-US" sz="3200" b="1" dirty="0">
                <a:solidFill>
                  <a:srgbClr val="853227"/>
                </a:solidFill>
                <a:effectLst>
                  <a:outerShdw blurRad="38100" dist="38100" dir="2700000" algn="tl">
                    <a:srgbClr val="000000">
                      <a:alpha val="43137"/>
                    </a:srgbClr>
                  </a:outerShdw>
                </a:effectLst>
                <a:latin typeface="Century" panose="02040604050505020304" pitchFamily="18" charset="0"/>
                <a:ea typeface="Roboto" panose="02000000000000000000" pitchFamily="2" charset="0"/>
                <a:cs typeface="Latha" panose="020B0604020202020204" pitchFamily="34" charset="0"/>
              </a:rPr>
              <a:t>ESNAD Blending Facility</a:t>
            </a:r>
            <a:endParaRPr lang="en-US" sz="3200" b="1" dirty="0">
              <a:solidFill>
                <a:srgbClr val="853227"/>
              </a:solidFill>
              <a:effectLst>
                <a:outerShdw blurRad="38100" dist="38100" dir="2700000" algn="tl">
                  <a:srgbClr val="000000">
                    <a:alpha val="43137"/>
                  </a:srgbClr>
                </a:outerShdw>
              </a:effectLst>
              <a:latin typeface="Century" panose="02040604050505020304" pitchFamily="18" charset="0"/>
              <a:ea typeface="Roboto" panose="02000000000000000000" pitchFamily="2"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1275" y="1833634"/>
            <a:ext cx="3349308" cy="1425237"/>
          </a:xfrm>
          <a:prstGeom prst="rect">
            <a:avLst/>
          </a:prstGeom>
        </p:spPr>
      </p:pic>
    </p:spTree>
    <p:extLst>
      <p:ext uri="{BB962C8B-B14F-4D97-AF65-F5344CB8AC3E}">
        <p14:creationId xmlns:p14="http://schemas.microsoft.com/office/powerpoint/2010/main" val="5478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506436" y="681037"/>
            <a:ext cx="7789839" cy="584775"/>
          </a:xfrm>
          <a:prstGeom prst="rect">
            <a:avLst/>
          </a:prstGeom>
        </p:spPr>
        <p:txBody>
          <a:bodyPr wrap="square">
            <a:spAutoFit/>
          </a:bodyPr>
          <a:lstStyle/>
          <a:p>
            <a:r>
              <a:rPr lang="en-US" sz="3200" b="1" dirty="0"/>
              <a:t>Oilfield Chemicals Market Size</a:t>
            </a:r>
          </a:p>
        </p:txBody>
      </p:sp>
      <p:pic>
        <p:nvPicPr>
          <p:cNvPr id="11" name="Picture 10" descr="A screenshot of a cell phone&#10;&#10;Description generated with very high confidence">
            <a:extLst>
              <a:ext uri="{FF2B5EF4-FFF2-40B4-BE49-F238E27FC236}">
                <a16:creationId xmlns:a16="http://schemas.microsoft.com/office/drawing/2014/main" id="{1DEA4459-5A7B-45CE-B855-040A8575DB1E}"/>
              </a:ext>
            </a:extLst>
          </p:cNvPr>
          <p:cNvPicPr>
            <a:picLocks noChangeAspect="1"/>
          </p:cNvPicPr>
          <p:nvPr/>
        </p:nvPicPr>
        <p:blipFill>
          <a:blip r:embed="rId3"/>
          <a:stretch>
            <a:fillRect/>
          </a:stretch>
        </p:blipFill>
        <p:spPr>
          <a:xfrm>
            <a:off x="435114" y="1513682"/>
            <a:ext cx="5441381" cy="3582193"/>
          </a:xfrm>
          <a:prstGeom prst="rect">
            <a:avLst/>
          </a:prstGeom>
        </p:spPr>
      </p:pic>
      <p:pic>
        <p:nvPicPr>
          <p:cNvPr id="12" name="Picture 11" descr="A screenshot of a cell phone&#10;&#10;Description generated with very high confidence">
            <a:extLst>
              <a:ext uri="{FF2B5EF4-FFF2-40B4-BE49-F238E27FC236}">
                <a16:creationId xmlns:a16="http://schemas.microsoft.com/office/drawing/2014/main" id="{EFED731F-FE37-4F52-A44F-656DE65649A4}"/>
              </a:ext>
            </a:extLst>
          </p:cNvPr>
          <p:cNvPicPr>
            <a:picLocks noChangeAspect="1"/>
          </p:cNvPicPr>
          <p:nvPr/>
        </p:nvPicPr>
        <p:blipFill>
          <a:blip r:embed="rId4"/>
          <a:stretch>
            <a:fillRect/>
          </a:stretch>
        </p:blipFill>
        <p:spPr>
          <a:xfrm>
            <a:off x="6096000" y="1724025"/>
            <a:ext cx="5893477" cy="3095625"/>
          </a:xfrm>
          <a:prstGeom prst="rect">
            <a:avLst/>
          </a:prstGeom>
        </p:spPr>
      </p:pic>
    </p:spTree>
    <p:extLst>
      <p:ext uri="{BB962C8B-B14F-4D97-AF65-F5344CB8AC3E}">
        <p14:creationId xmlns:p14="http://schemas.microsoft.com/office/powerpoint/2010/main" val="3273327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506436" y="681037"/>
            <a:ext cx="7789839" cy="584775"/>
          </a:xfrm>
          <a:prstGeom prst="rect">
            <a:avLst/>
          </a:prstGeom>
        </p:spPr>
        <p:txBody>
          <a:bodyPr wrap="square">
            <a:spAutoFit/>
          </a:bodyPr>
          <a:lstStyle/>
          <a:p>
            <a:r>
              <a:rPr lang="en-US" sz="3200" b="1" dirty="0"/>
              <a:t>Oilfield Chemicals Segments</a:t>
            </a:r>
          </a:p>
        </p:txBody>
      </p:sp>
      <p:pic>
        <p:nvPicPr>
          <p:cNvPr id="3" name="Picture 2">
            <a:extLst>
              <a:ext uri="{FF2B5EF4-FFF2-40B4-BE49-F238E27FC236}">
                <a16:creationId xmlns:a16="http://schemas.microsoft.com/office/drawing/2014/main" id="{A05BCC01-4D2A-449F-BEF7-02795EA6EE27}"/>
              </a:ext>
            </a:extLst>
          </p:cNvPr>
          <p:cNvPicPr>
            <a:picLocks noChangeAspect="1"/>
          </p:cNvPicPr>
          <p:nvPr/>
        </p:nvPicPr>
        <p:blipFill>
          <a:blip r:embed="rId3"/>
          <a:stretch>
            <a:fillRect/>
          </a:stretch>
        </p:blipFill>
        <p:spPr>
          <a:xfrm>
            <a:off x="1062037" y="1472932"/>
            <a:ext cx="10067925" cy="5014912"/>
          </a:xfrm>
          <a:prstGeom prst="rect">
            <a:avLst/>
          </a:prstGeom>
        </p:spPr>
      </p:pic>
    </p:spTree>
    <p:extLst>
      <p:ext uri="{BB962C8B-B14F-4D97-AF65-F5344CB8AC3E}">
        <p14:creationId xmlns:p14="http://schemas.microsoft.com/office/powerpoint/2010/main" val="23267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51724917"/>
              </p:ext>
            </p:extLst>
          </p:nvPr>
        </p:nvGraphicFramePr>
        <p:xfrm>
          <a:off x="1427871" y="966651"/>
          <a:ext cx="9296766" cy="4748191"/>
        </p:xfrm>
        <a:graphic>
          <a:graphicData uri="http://schemas.openxmlformats.org/drawingml/2006/table">
            <a:tbl>
              <a:tblPr firstRow="1" bandRow="1">
                <a:tableStyleId>{5C22544A-7EE6-4342-B048-85BDC9FD1C3A}</a:tableStyleId>
              </a:tblPr>
              <a:tblGrid>
                <a:gridCol w="3291671">
                  <a:extLst>
                    <a:ext uri="{9D8B030D-6E8A-4147-A177-3AD203B41FA5}">
                      <a16:colId xmlns:a16="http://schemas.microsoft.com/office/drawing/2014/main" val="20000"/>
                    </a:ext>
                  </a:extLst>
                </a:gridCol>
                <a:gridCol w="2119276">
                  <a:extLst>
                    <a:ext uri="{9D8B030D-6E8A-4147-A177-3AD203B41FA5}">
                      <a16:colId xmlns:a16="http://schemas.microsoft.com/office/drawing/2014/main" val="20001"/>
                    </a:ext>
                  </a:extLst>
                </a:gridCol>
                <a:gridCol w="1585756">
                  <a:extLst>
                    <a:ext uri="{9D8B030D-6E8A-4147-A177-3AD203B41FA5}">
                      <a16:colId xmlns:a16="http://schemas.microsoft.com/office/drawing/2014/main" val="20002"/>
                    </a:ext>
                  </a:extLst>
                </a:gridCol>
                <a:gridCol w="192511">
                  <a:extLst>
                    <a:ext uri="{9D8B030D-6E8A-4147-A177-3AD203B41FA5}">
                      <a16:colId xmlns:a16="http://schemas.microsoft.com/office/drawing/2014/main" val="20003"/>
                    </a:ext>
                  </a:extLst>
                </a:gridCol>
                <a:gridCol w="2107552">
                  <a:extLst>
                    <a:ext uri="{9D8B030D-6E8A-4147-A177-3AD203B41FA5}">
                      <a16:colId xmlns:a16="http://schemas.microsoft.com/office/drawing/2014/main" val="20004"/>
                    </a:ext>
                  </a:extLst>
                </a:gridCol>
              </a:tblGrid>
              <a:tr h="249644">
                <a:tc>
                  <a:txBody>
                    <a:bodyPr/>
                    <a:lstStyle/>
                    <a:p>
                      <a:pPr algn="ctr"/>
                      <a:r>
                        <a:rPr lang="en-US" sz="2000" b="1" kern="1200" dirty="0">
                          <a:solidFill>
                            <a:schemeClr val="lt1"/>
                          </a:solidFill>
                          <a:latin typeface="+mj-lt"/>
                          <a:ea typeface="+mn-ea"/>
                          <a:cs typeface="Times New Roman" pitchFamily="18" charset="0"/>
                        </a:rPr>
                        <a:t>Challenges</a:t>
                      </a:r>
                    </a:p>
                  </a:txBody>
                  <a:tcPr marL="45714" marR="45714" marT="22857" marB="22857" anchor="ctr">
                    <a:solidFill>
                      <a:schemeClr val="bg2">
                        <a:lumMod val="75000"/>
                      </a:schemeClr>
                    </a:solidFill>
                  </a:tcPr>
                </a:tc>
                <a:tc gridSpan="4">
                  <a:txBody>
                    <a:bodyPr/>
                    <a:lstStyle/>
                    <a:p>
                      <a:pPr algn="ctr"/>
                      <a:r>
                        <a:rPr lang="en-US" sz="2000" b="1" kern="1200" dirty="0">
                          <a:solidFill>
                            <a:schemeClr val="lt1"/>
                          </a:solidFill>
                          <a:latin typeface="+mj-lt"/>
                          <a:ea typeface="+mn-ea"/>
                          <a:cs typeface="Times New Roman" pitchFamily="18" charset="0"/>
                        </a:rPr>
                        <a:t>Additives</a:t>
                      </a:r>
                    </a:p>
                  </a:txBody>
                  <a:tcPr marL="45714" marR="45714" marT="22857" marB="22857" anchor="ctr">
                    <a:solidFill>
                      <a:schemeClr val="bg2">
                        <a:lumMod val="75000"/>
                      </a:schemeClr>
                    </a:solidFill>
                  </a:tcP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0"/>
                  </a:ext>
                </a:extLst>
              </a:tr>
              <a:tr h="431683">
                <a:tc>
                  <a:txBody>
                    <a:bodyPr/>
                    <a:lstStyle/>
                    <a:p>
                      <a:pPr marL="0" lvl="0" algn="l" defTabSz="1087444" rtl="0" eaLnBrk="1" latinLnBrk="0" hangingPunct="1"/>
                      <a:r>
                        <a:rPr lang="en-US" sz="1800" b="1" kern="1200" dirty="0">
                          <a:solidFill>
                            <a:schemeClr val="dk1"/>
                          </a:solidFill>
                          <a:latin typeface="+mn-lt"/>
                          <a:ea typeface="+mn-ea"/>
                          <a:cs typeface="+mn-cs"/>
                        </a:rPr>
                        <a:t>Shale Instability Problems</a:t>
                      </a:r>
                      <a:endParaRPr lang="en-GB" sz="1800" b="1" kern="1200" dirty="0">
                        <a:solidFill>
                          <a:schemeClr val="dk1"/>
                        </a:solidFill>
                        <a:latin typeface="+mn-lt"/>
                        <a:ea typeface="+mn-ea"/>
                        <a:cs typeface="+mn-cs"/>
                      </a:endParaRPr>
                    </a:p>
                  </a:txBody>
                  <a:tcPr marL="45714" marR="45714" marT="22857" marB="22857" anchor="ctr"/>
                </a:tc>
                <a:tc>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kern="1200" dirty="0">
                        <a:solidFill>
                          <a:srgbClr val="000000"/>
                        </a:solidFill>
                        <a:effectLst/>
                        <a:latin typeface="+mn-lt"/>
                        <a:ea typeface="+mn-ea"/>
                        <a:cs typeface="Times New Roman" panose="02020603050405020304" pitchFamily="18" charset="0"/>
                      </a:endParaRPr>
                    </a:p>
                  </a:txBody>
                  <a:tcPr marL="4762" marR="4762" marT="4762" marB="0" anchor="ctr"/>
                </a:tc>
                <a:tc gridSpan="2">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u="none" strike="noStrike" dirty="0">
                        <a:effectLst/>
                        <a:latin typeface="+mn-lt"/>
                        <a:cs typeface="Times New Roman" panose="02020603050405020304" pitchFamily="18" charset="0"/>
                      </a:endParaRPr>
                    </a:p>
                  </a:txBody>
                  <a:tcPr marL="4762" marR="4762" marT="4762" marB="0" anchor="ctr"/>
                </a:tc>
                <a:tc hMerge="1">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2000" b="1" i="0" u="none" strike="noStrike" kern="1200" dirty="0">
                        <a:solidFill>
                          <a:srgbClr val="000000"/>
                        </a:solidFill>
                        <a:effectLst/>
                        <a:latin typeface="+mn-lt"/>
                        <a:ea typeface="+mn-ea"/>
                        <a:cs typeface="Times New Roman" panose="02020603050405020304" pitchFamily="18" charset="0"/>
                      </a:endParaRPr>
                    </a:p>
                  </a:txBody>
                  <a:tcPr marL="4762" marR="4762" marT="4762" marB="0" anchor="ctr"/>
                </a:tc>
                <a:tc>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kern="1200" dirty="0">
                        <a:solidFill>
                          <a:srgbClr val="000000"/>
                        </a:solidFill>
                        <a:effectLst/>
                        <a:latin typeface="+mn-lt"/>
                        <a:ea typeface="+mn-ea"/>
                        <a:cs typeface="Times New Roman" panose="02020603050405020304" pitchFamily="18" charset="0"/>
                      </a:endParaRPr>
                    </a:p>
                  </a:txBody>
                  <a:tcPr marL="4762" marR="4762" marT="4762" marB="0" anchor="ctr"/>
                </a:tc>
                <a:extLst>
                  <a:ext uri="{0D108BD9-81ED-4DB2-BD59-A6C34878D82A}">
                    <a16:rowId xmlns:a16="http://schemas.microsoft.com/office/drawing/2014/main" val="10001"/>
                  </a:ext>
                </a:extLst>
              </a:tr>
              <a:tr h="427969">
                <a:tc>
                  <a:txBody>
                    <a:bodyPr/>
                    <a:lstStyle/>
                    <a:p>
                      <a:pPr marL="0" lvl="0" algn="l" defTabSz="1087444" rtl="0" eaLnBrk="1" latinLnBrk="0" hangingPunct="1"/>
                      <a:r>
                        <a:rPr lang="en-US" sz="1800" b="1" kern="1200" dirty="0">
                          <a:solidFill>
                            <a:schemeClr val="dk1"/>
                          </a:solidFill>
                          <a:latin typeface="+mn-lt"/>
                          <a:ea typeface="+mn-ea"/>
                          <a:cs typeface="+mn-cs"/>
                        </a:rPr>
                        <a:t>Hole Cleaning</a:t>
                      </a:r>
                    </a:p>
                  </a:txBody>
                  <a:tcPr marL="45714" marR="45714" marT="22857" marB="22857" anchor="ctr"/>
                </a:tc>
                <a:tc gridSpan="4">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dirty="0">
                        <a:solidFill>
                          <a:srgbClr val="000000"/>
                        </a:solidFill>
                        <a:effectLst/>
                        <a:latin typeface="+mn-lt"/>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2"/>
                  </a:ext>
                </a:extLst>
              </a:tr>
              <a:tr h="431683">
                <a:tc>
                  <a:txBody>
                    <a:bodyPr/>
                    <a:lstStyle/>
                    <a:p>
                      <a:pPr marL="0" marR="0" lvl="0" indent="0" algn="l" defTabSz="1087444"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latin typeface="+mn-lt"/>
                          <a:ea typeface="+mn-ea"/>
                          <a:cs typeface="+mn-cs"/>
                        </a:rPr>
                        <a:t>Rheology Control Problem</a:t>
                      </a:r>
                      <a:endParaRPr lang="en-GB" sz="1800" b="1" kern="1200" dirty="0">
                        <a:solidFill>
                          <a:schemeClr val="dk1"/>
                        </a:solidFill>
                        <a:latin typeface="+mn-lt"/>
                        <a:ea typeface="+mn-ea"/>
                        <a:cs typeface="+mn-cs"/>
                      </a:endParaRPr>
                    </a:p>
                  </a:txBody>
                  <a:tcPr marL="45714" marR="45714" marT="22857" marB="22857" anchor="ctr"/>
                </a:tc>
                <a:tc gridSpan="4">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dirty="0">
                        <a:latin typeface="+mn-lt"/>
                        <a:cs typeface="Times New Roman" panose="02020603050405020304" pitchFamily="18" charset="0"/>
                      </a:endParaRPr>
                    </a:p>
                  </a:txBody>
                  <a:tcPr marL="4762" marR="4762" marT="4762"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3"/>
                  </a:ext>
                </a:extLst>
              </a:tr>
              <a:tr h="891597">
                <a:tc>
                  <a:txBody>
                    <a:bodyPr/>
                    <a:lstStyle/>
                    <a:p>
                      <a:pPr marL="0" marR="0" indent="0" algn="l" defTabSz="1087444" rtl="0" eaLnBrk="1" fontAlgn="auto" latinLnBrk="0" hangingPunct="1">
                        <a:lnSpc>
                          <a:spcPct val="100000"/>
                        </a:lnSpc>
                        <a:spcBef>
                          <a:spcPts val="0"/>
                        </a:spcBef>
                        <a:spcAft>
                          <a:spcPts val="0"/>
                        </a:spcAft>
                        <a:buClrTx/>
                        <a:buSzTx/>
                        <a:buFontTx/>
                        <a:buNone/>
                        <a:tabLst/>
                        <a:defRPr/>
                      </a:pPr>
                      <a:r>
                        <a:rPr lang="en-US" sz="1800" b="1" dirty="0">
                          <a:latin typeface="+mn-lt"/>
                        </a:rPr>
                        <a:t>Corrosion Problem/Contamination Problem/Bacterial Degradation Problem</a:t>
                      </a:r>
                    </a:p>
                  </a:txBody>
                  <a:tcPr marL="45714" marR="45714" marT="22857" marB="22857" anchor="ctr"/>
                </a:tc>
                <a:tc>
                  <a:txBody>
                    <a:bodyPr/>
                    <a:lstStyle/>
                    <a:p>
                      <a:pPr marL="0" marR="0" lvl="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dirty="0">
                        <a:solidFill>
                          <a:srgbClr val="000000"/>
                        </a:solidFill>
                        <a:effectLst/>
                        <a:latin typeface="+mn-lt"/>
                      </a:endParaRPr>
                    </a:p>
                  </a:txBody>
                  <a:tcPr marL="4762" marR="4762" marT="4762" marB="0" anchor="ctr"/>
                </a:tc>
                <a:tc>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kern="1200" dirty="0">
                        <a:solidFill>
                          <a:srgbClr val="000000"/>
                        </a:solidFill>
                        <a:effectLst/>
                        <a:latin typeface="+mn-lt"/>
                        <a:ea typeface="+mn-ea"/>
                        <a:cs typeface="+mn-cs"/>
                      </a:endParaRPr>
                    </a:p>
                  </a:txBody>
                  <a:tcPr marL="4762" marR="4762" marT="4762" marB="0" anchor="ctr"/>
                </a:tc>
                <a:tc gridSpan="2">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dirty="0">
                        <a:solidFill>
                          <a:srgbClr val="000000"/>
                        </a:solidFill>
                        <a:effectLst/>
                        <a:latin typeface="+mn-lt"/>
                      </a:endParaRPr>
                    </a:p>
                  </a:txBody>
                  <a:tcPr marL="4762" marR="4762" marT="4762" marB="0" anchor="ctr"/>
                </a:tc>
                <a:tc hMerge="1">
                  <a:txBody>
                    <a:bodyPr/>
                    <a:lstStyle/>
                    <a:p>
                      <a:endParaRPr lang="en-GB"/>
                    </a:p>
                  </a:txBody>
                  <a:tcPr/>
                </a:tc>
                <a:extLst>
                  <a:ext uri="{0D108BD9-81ED-4DB2-BD59-A6C34878D82A}">
                    <a16:rowId xmlns:a16="http://schemas.microsoft.com/office/drawing/2014/main" val="10004"/>
                  </a:ext>
                </a:extLst>
              </a:tr>
              <a:tr h="427969">
                <a:tc>
                  <a:txBody>
                    <a:bodyPr/>
                    <a:lstStyle/>
                    <a:p>
                      <a:pPr marL="0" marR="0" indent="0" algn="l" defTabSz="1087444" rtl="0" eaLnBrk="1" fontAlgn="auto" latinLnBrk="0" hangingPunct="1">
                        <a:lnSpc>
                          <a:spcPct val="100000"/>
                        </a:lnSpc>
                        <a:spcBef>
                          <a:spcPts val="0"/>
                        </a:spcBef>
                        <a:spcAft>
                          <a:spcPts val="0"/>
                        </a:spcAft>
                        <a:buClrTx/>
                        <a:buSzTx/>
                        <a:buFontTx/>
                        <a:buNone/>
                        <a:tabLst/>
                        <a:defRPr/>
                      </a:pPr>
                      <a:r>
                        <a:rPr lang="en-US" sz="1800" b="1" dirty="0">
                          <a:latin typeface="+mn-lt"/>
                        </a:rPr>
                        <a:t>Torque &amp; Drag Problems</a:t>
                      </a:r>
                    </a:p>
                  </a:txBody>
                  <a:tcPr marL="45714" marR="45714" marT="22857" marB="22857" anchor="ctr"/>
                </a:tc>
                <a:tc gridSpan="4">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kern="1200" dirty="0">
                        <a:solidFill>
                          <a:schemeClr val="dk1"/>
                        </a:solidFill>
                        <a:latin typeface="+mn-lt"/>
                        <a:ea typeface="+mn-ea"/>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5"/>
                  </a:ext>
                </a:extLst>
              </a:tr>
              <a:tr h="463628">
                <a:tc>
                  <a:txBody>
                    <a:bodyPr/>
                    <a:lstStyle/>
                    <a:p>
                      <a:r>
                        <a:rPr lang="en-US" sz="1800" b="1" dirty="0">
                          <a:latin typeface="+mn-lt"/>
                        </a:rPr>
                        <a:t>Cleaning</a:t>
                      </a:r>
                      <a:r>
                        <a:rPr lang="en-US" sz="1800" b="1" baseline="0" dirty="0">
                          <a:latin typeface="+mn-lt"/>
                        </a:rPr>
                        <a:t> Problems</a:t>
                      </a:r>
                      <a:endParaRPr lang="en-US" sz="1800" b="1" dirty="0">
                        <a:latin typeface="+mn-lt"/>
                      </a:endParaRPr>
                    </a:p>
                  </a:txBody>
                  <a:tcPr marL="45714" marR="45714" marT="22857" marB="22857" anchor="ctr"/>
                </a:tc>
                <a:tc gridSpan="4">
                  <a:txBody>
                    <a:bodyPr/>
                    <a:lstStyle/>
                    <a:p>
                      <a:pPr marL="0" marR="0" indent="0" algn="ctr" defTabSz="1087444" rtl="0" eaLnBrk="1" fontAlgn="auto" latinLnBrk="0" hangingPunct="1">
                        <a:lnSpc>
                          <a:spcPct val="100000"/>
                        </a:lnSpc>
                        <a:spcBef>
                          <a:spcPts val="0"/>
                        </a:spcBef>
                        <a:spcAft>
                          <a:spcPts val="0"/>
                        </a:spcAft>
                        <a:buClrTx/>
                        <a:buSzTx/>
                        <a:buFontTx/>
                        <a:buNone/>
                        <a:tabLst/>
                        <a:defRPr/>
                      </a:pPr>
                      <a:endParaRPr lang="en-US" sz="1800" b="1" i="0" u="none" strike="noStrike" kern="1200" dirty="0">
                        <a:solidFill>
                          <a:srgbClr val="000000"/>
                        </a:solidFill>
                        <a:effectLst/>
                        <a:latin typeface="+mn-lt"/>
                        <a:ea typeface="+mn-ea"/>
                        <a:cs typeface="Times New Roman" panose="02020603050405020304" pitchFamily="18" charset="0"/>
                      </a:endParaRPr>
                    </a:p>
                  </a:txBody>
                  <a:tcPr marL="45714" marR="45714" marT="22857" marB="22857"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6"/>
                  </a:ext>
                </a:extLst>
              </a:tr>
              <a:tr h="431683">
                <a:tc>
                  <a:txBody>
                    <a:bodyPr/>
                    <a:lstStyle/>
                    <a:p>
                      <a:pPr marL="0" lvl="0" algn="l" defTabSz="1087444" rtl="0" eaLnBrk="1" latinLnBrk="0" hangingPunct="1"/>
                      <a:r>
                        <a:rPr lang="en-US" sz="1800" b="1" kern="1200" dirty="0">
                          <a:solidFill>
                            <a:schemeClr val="dk1"/>
                          </a:solidFill>
                          <a:latin typeface="+mn-lt"/>
                          <a:ea typeface="+mn-ea"/>
                          <a:cs typeface="+mn-cs"/>
                        </a:rPr>
                        <a:t>Stuck Pipe Problem</a:t>
                      </a:r>
                    </a:p>
                  </a:txBody>
                  <a:tcPr marL="45714" marR="45714" marT="22857" marB="22857" anchor="ctr"/>
                </a:tc>
                <a:tc gridSpan="4">
                  <a:txBody>
                    <a:bodyPr/>
                    <a:lstStyle/>
                    <a:p>
                      <a:pPr algn="ctr" fontAlgn="ctr"/>
                      <a:endParaRPr lang="en-US" sz="1800" b="1" dirty="0">
                        <a:latin typeface="+mn-lt"/>
                      </a:endParaRPr>
                    </a:p>
                  </a:txBody>
                  <a:tcPr marL="4762" marR="4762" marT="4762"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7"/>
                  </a:ext>
                </a:extLst>
              </a:tr>
              <a:tr h="249644">
                <a:tc>
                  <a:txBody>
                    <a:bodyPr/>
                    <a:lstStyle/>
                    <a:p>
                      <a:r>
                        <a:rPr lang="en-US" sz="1800" b="1" dirty="0">
                          <a:latin typeface="+mn-lt"/>
                        </a:rPr>
                        <a:t>HPHT Wells Problems</a:t>
                      </a:r>
                    </a:p>
                  </a:txBody>
                  <a:tcPr marL="45714" marR="45714" marT="22857" marB="22857" anchor="ctr"/>
                </a:tc>
                <a:tc gridSpan="4">
                  <a:txBody>
                    <a:bodyPr/>
                    <a:lstStyle/>
                    <a:p>
                      <a:pPr marL="0" marR="0" indent="0" algn="ctr" defTabSz="1087444" rtl="0" eaLnBrk="1" fontAlgn="ctr" latinLnBrk="0" hangingPunct="1">
                        <a:lnSpc>
                          <a:spcPct val="100000"/>
                        </a:lnSpc>
                        <a:spcBef>
                          <a:spcPts val="0"/>
                        </a:spcBef>
                        <a:spcAft>
                          <a:spcPts val="0"/>
                        </a:spcAft>
                        <a:buClrTx/>
                        <a:buSzTx/>
                        <a:buFontTx/>
                        <a:buNone/>
                        <a:tabLst/>
                        <a:defRPr/>
                      </a:pPr>
                      <a:endParaRPr lang="en-US" sz="1800" b="1" i="0" u="none" strike="noStrike" kern="1200" dirty="0">
                        <a:solidFill>
                          <a:srgbClr val="000000"/>
                        </a:solidFill>
                        <a:effectLst/>
                        <a:latin typeface="+mn-lt"/>
                        <a:ea typeface="+mn-ea"/>
                        <a:cs typeface="+mn-cs"/>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8"/>
                  </a:ext>
                </a:extLst>
              </a:tr>
              <a:tr h="249644">
                <a:tc>
                  <a:txBody>
                    <a:bodyPr/>
                    <a:lstStyle/>
                    <a:p>
                      <a:r>
                        <a:rPr lang="en-US" sz="1800" b="1" dirty="0">
                          <a:latin typeface="+mn-lt"/>
                        </a:rPr>
                        <a:t>Loss Circulation</a:t>
                      </a:r>
                    </a:p>
                  </a:txBody>
                  <a:tcPr marL="45714" marR="45714" marT="22857" marB="22857" anchor="ctr"/>
                </a:tc>
                <a:tc gridSpan="4">
                  <a:txBody>
                    <a:bodyPr/>
                    <a:lstStyle/>
                    <a:p>
                      <a:pPr marL="0" marR="0" lvl="0" indent="0" algn="ctr" defTabSz="1087444" rtl="0" eaLnBrk="1" fontAlgn="ctr" latinLnBrk="0" hangingPunct="1">
                        <a:lnSpc>
                          <a:spcPct val="100000"/>
                        </a:lnSpc>
                        <a:spcBef>
                          <a:spcPts val="0"/>
                        </a:spcBef>
                        <a:spcAft>
                          <a:spcPts val="0"/>
                        </a:spcAft>
                        <a:buClrTx/>
                        <a:buSzTx/>
                        <a:buFontTx/>
                        <a:buNone/>
                        <a:tabLst/>
                        <a:defRPr/>
                      </a:pPr>
                      <a:endParaRPr lang="en-US" sz="1800" b="1" dirty="0">
                        <a:latin typeface="+mn-l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9"/>
                  </a:ext>
                </a:extLst>
              </a:tr>
            </a:tbl>
          </a:graphicData>
        </a:graphic>
      </p:graphicFrame>
      <p:sp>
        <p:nvSpPr>
          <p:cNvPr id="3" name="Title 1"/>
          <p:cNvSpPr>
            <a:spLocks noGrp="1"/>
          </p:cNvSpPr>
          <p:nvPr>
            <p:ph type="title"/>
          </p:nvPr>
        </p:nvSpPr>
        <p:spPr>
          <a:xfrm>
            <a:off x="1380090" y="542273"/>
            <a:ext cx="9049170" cy="388807"/>
          </a:xfrm>
        </p:spPr>
        <p:txBody>
          <a:bodyPr>
            <a:noAutofit/>
          </a:bodyPr>
          <a:lstStyle/>
          <a:p>
            <a:pPr lvl="0" algn="ctr"/>
            <a:r>
              <a:rPr lang="en-US" altLang="en-US" sz="3200" b="1" dirty="0">
                <a:latin typeface="+mn-lt"/>
                <a:ea typeface="+mn-ea"/>
                <a:cs typeface="+mn-cs"/>
              </a:rPr>
              <a:t>R&amp;D Based Developed Drilling Specialty Chemicals </a:t>
            </a:r>
            <a:endParaRPr lang="en-GB" sz="3200" b="1" dirty="0">
              <a:latin typeface="+mn-lt"/>
              <a:ea typeface="+mn-ea"/>
              <a:cs typeface="+mn-cs"/>
            </a:endParaRPr>
          </a:p>
        </p:txBody>
      </p:sp>
      <p:sp>
        <p:nvSpPr>
          <p:cNvPr id="4" name="Rectangle 3">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27ADAAC-263B-4EBE-AD48-21D54C3A606A}"/>
              </a:ext>
            </a:extLst>
          </p:cNvPr>
          <p:cNvSpPr/>
          <p:nvPr/>
        </p:nvSpPr>
        <p:spPr>
          <a:xfrm>
            <a:off x="920093"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27ADAAC-263B-4EBE-AD48-21D54C3A606A}"/>
              </a:ext>
            </a:extLst>
          </p:cNvPr>
          <p:cNvSpPr/>
          <p:nvPr/>
        </p:nvSpPr>
        <p:spPr>
          <a:xfrm>
            <a:off x="92779"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Tree>
    <p:extLst>
      <p:ext uri="{BB962C8B-B14F-4D97-AF65-F5344CB8AC3E}">
        <p14:creationId xmlns:p14="http://schemas.microsoft.com/office/powerpoint/2010/main" val="225487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818857336"/>
              </p:ext>
            </p:extLst>
          </p:nvPr>
        </p:nvGraphicFramePr>
        <p:xfrm>
          <a:off x="1181434" y="1182957"/>
          <a:ext cx="10004848" cy="2874508"/>
        </p:xfrm>
        <a:graphic>
          <a:graphicData uri="http://schemas.openxmlformats.org/drawingml/2006/table">
            <a:tbl>
              <a:tblPr firstRow="1" bandRow="1">
                <a:tableStyleId>{5C22544A-7EE6-4342-B048-85BDC9FD1C3A}</a:tableStyleId>
              </a:tblPr>
              <a:tblGrid>
                <a:gridCol w="4323244">
                  <a:extLst>
                    <a:ext uri="{9D8B030D-6E8A-4147-A177-3AD203B41FA5}">
                      <a16:colId xmlns:a16="http://schemas.microsoft.com/office/drawing/2014/main" val="20000"/>
                    </a:ext>
                  </a:extLst>
                </a:gridCol>
                <a:gridCol w="2840802">
                  <a:extLst>
                    <a:ext uri="{9D8B030D-6E8A-4147-A177-3AD203B41FA5}">
                      <a16:colId xmlns:a16="http://schemas.microsoft.com/office/drawing/2014/main" val="20001"/>
                    </a:ext>
                  </a:extLst>
                </a:gridCol>
                <a:gridCol w="2840802">
                  <a:extLst>
                    <a:ext uri="{9D8B030D-6E8A-4147-A177-3AD203B41FA5}">
                      <a16:colId xmlns:a16="http://schemas.microsoft.com/office/drawing/2014/main" val="20002"/>
                    </a:ext>
                  </a:extLst>
                </a:gridCol>
              </a:tblGrid>
              <a:tr h="319998">
                <a:tc>
                  <a:txBody>
                    <a:bodyPr/>
                    <a:lstStyle/>
                    <a:p>
                      <a:pPr algn="ctr"/>
                      <a:r>
                        <a:rPr lang="en-US" sz="2000" b="1" kern="1200" dirty="0">
                          <a:solidFill>
                            <a:schemeClr val="lt1"/>
                          </a:solidFill>
                          <a:latin typeface="+mj-lt"/>
                          <a:ea typeface="+mn-ea"/>
                          <a:cs typeface="Times New Roman" pitchFamily="18" charset="0"/>
                        </a:rPr>
                        <a:t>Category</a:t>
                      </a:r>
                    </a:p>
                  </a:txBody>
                  <a:tcPr marL="45714" marR="45714" marT="22857" marB="22857" anchor="ctr">
                    <a:solidFill>
                      <a:schemeClr val="bg1">
                        <a:lumMod val="65000"/>
                      </a:schemeClr>
                    </a:solidFill>
                  </a:tcPr>
                </a:tc>
                <a:tc gridSpan="2">
                  <a:txBody>
                    <a:bodyPr/>
                    <a:lstStyle/>
                    <a:p>
                      <a:pPr algn="ctr"/>
                      <a:r>
                        <a:rPr lang="en-US" sz="2000" b="1" kern="1200" dirty="0">
                          <a:solidFill>
                            <a:schemeClr val="lt1"/>
                          </a:solidFill>
                          <a:latin typeface="+mj-lt"/>
                          <a:ea typeface="+mn-ea"/>
                          <a:cs typeface="Times New Roman" pitchFamily="18" charset="0"/>
                        </a:rPr>
                        <a:t>Additives</a:t>
                      </a:r>
                    </a:p>
                  </a:txBody>
                  <a:tcPr marL="45714" marR="45714" marT="22857" marB="22857" anchor="ctr">
                    <a:solidFill>
                      <a:schemeClr val="bg1">
                        <a:lumMod val="65000"/>
                      </a:schemeClr>
                    </a:solidFill>
                  </a:tcPr>
                </a:tc>
                <a:tc hMerge="1">
                  <a:txBody>
                    <a:bodyPr/>
                    <a:lstStyle/>
                    <a:p>
                      <a:endParaRPr lang="en-US"/>
                    </a:p>
                  </a:txBody>
                  <a:tcPr/>
                </a:tc>
                <a:extLst>
                  <a:ext uri="{0D108BD9-81ED-4DB2-BD59-A6C34878D82A}">
                    <a16:rowId xmlns:a16="http://schemas.microsoft.com/office/drawing/2014/main" val="10000"/>
                  </a:ext>
                </a:extLst>
              </a:tr>
              <a:tr h="644759">
                <a:tc>
                  <a:txBody>
                    <a:bodyPr/>
                    <a:lstStyle/>
                    <a:p>
                      <a:pPr marL="0" lvl="0" algn="l" defTabSz="1087444" rtl="0" eaLnBrk="1" latinLnBrk="0" hangingPunct="1"/>
                      <a:r>
                        <a:rPr lang="en-US" sz="2000" b="0" kern="1200" dirty="0">
                          <a:solidFill>
                            <a:schemeClr val="dk1"/>
                          </a:solidFill>
                          <a:latin typeface="+mn-lt"/>
                          <a:ea typeface="+mn-ea"/>
                          <a:cs typeface="+mn-cs"/>
                        </a:rPr>
                        <a:t>Biocides, Corrosion Inhibitors and Scavengers</a:t>
                      </a:r>
                    </a:p>
                  </a:txBody>
                  <a:tcPr marL="45714" marR="45714" marT="22857" marB="22857" anchor="ctr"/>
                </a:tc>
                <a:tc>
                  <a:txBody>
                    <a:bodyPr/>
                    <a:lstStyle/>
                    <a:p>
                      <a:pPr algn="ctr" fontAlgn="ctr"/>
                      <a:endParaRPr lang="en-US" sz="1800" b="0" u="none" strike="noStrike" kern="1200" dirty="0">
                        <a:solidFill>
                          <a:schemeClr val="dk1"/>
                        </a:solidFill>
                        <a:effectLst/>
                        <a:latin typeface="+mn-lt"/>
                        <a:ea typeface="+mn-ea"/>
                        <a:cs typeface="Times New Roman" panose="02020603050405020304" pitchFamily="18" charset="0"/>
                      </a:endParaRPr>
                    </a:p>
                  </a:txBody>
                  <a:tcPr marL="4762" marR="4762" marT="4762" marB="0" anchor="ctr"/>
                </a:tc>
                <a:tc>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1800" b="0" u="none" strike="noStrike" dirty="0">
                        <a:solidFill>
                          <a:schemeClr val="tx1"/>
                        </a:solidFill>
                        <a:effectLst/>
                        <a:latin typeface="+mn-lt"/>
                        <a:cs typeface="Times New Roman" panose="02020603050405020304" pitchFamily="18" charset="0"/>
                      </a:endParaRPr>
                    </a:p>
                  </a:txBody>
                  <a:tcPr marL="4762" marR="4762" marT="4762" marB="0" anchor="ctr"/>
                </a:tc>
                <a:extLst>
                  <a:ext uri="{0D108BD9-81ED-4DB2-BD59-A6C34878D82A}">
                    <a16:rowId xmlns:a16="http://schemas.microsoft.com/office/drawing/2014/main" val="10001"/>
                  </a:ext>
                </a:extLst>
              </a:tr>
              <a:tr h="426664">
                <a:tc>
                  <a:txBody>
                    <a:bodyPr/>
                    <a:lstStyle/>
                    <a:p>
                      <a:pPr marL="0" lvl="0" algn="l" defTabSz="1087444" rtl="0" eaLnBrk="1" latinLnBrk="0" hangingPunct="1"/>
                      <a:r>
                        <a:rPr lang="en-US" sz="2000" b="0" kern="1200" dirty="0">
                          <a:solidFill>
                            <a:schemeClr val="dk1"/>
                          </a:solidFill>
                          <a:latin typeface="+mn-lt"/>
                          <a:ea typeface="+mn-ea"/>
                          <a:cs typeface="+mn-cs"/>
                        </a:rPr>
                        <a:t>Wax and </a:t>
                      </a:r>
                      <a:r>
                        <a:rPr lang="en-US" sz="2000" b="0" kern="1200" dirty="0" err="1">
                          <a:solidFill>
                            <a:schemeClr val="dk1"/>
                          </a:solidFill>
                          <a:latin typeface="+mn-lt"/>
                          <a:ea typeface="+mn-ea"/>
                          <a:cs typeface="+mn-cs"/>
                        </a:rPr>
                        <a:t>Asphaltene</a:t>
                      </a:r>
                      <a:r>
                        <a:rPr lang="en-US" sz="2000" b="0" kern="1200" dirty="0">
                          <a:solidFill>
                            <a:schemeClr val="dk1"/>
                          </a:solidFill>
                          <a:latin typeface="+mn-lt"/>
                          <a:ea typeface="+mn-ea"/>
                          <a:cs typeface="+mn-cs"/>
                        </a:rPr>
                        <a:t> Inhibitors</a:t>
                      </a:r>
                    </a:p>
                  </a:txBody>
                  <a:tcPr marL="45714" marR="45714" marT="22857" marB="22857" anchor="ctr"/>
                </a:tc>
                <a:tc gridSpan="2">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1800" b="0" u="none" strike="noStrike" dirty="0">
                        <a:solidFill>
                          <a:schemeClr val="tx1"/>
                        </a:solidFill>
                        <a:effectLst/>
                        <a:latin typeface="+mn-lt"/>
                        <a:cs typeface="Times New Roman" panose="02020603050405020304" pitchFamily="18" charset="0"/>
                      </a:endParaRPr>
                    </a:p>
                  </a:txBody>
                  <a:tcPr marL="0" marR="0" marT="0" marB="0" anchor="ctr"/>
                </a:tc>
                <a:tc hMerge="1">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2800" b="0" i="0" u="none" strike="noStrike" dirty="0">
                        <a:solidFill>
                          <a:schemeClr val="tx1"/>
                        </a:solidFill>
                        <a:effectLst/>
                        <a:latin typeface="+mn-lt"/>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431426">
                <a:tc>
                  <a:txBody>
                    <a:bodyPr/>
                    <a:lstStyle/>
                    <a:p>
                      <a:pPr lvl="0"/>
                      <a:r>
                        <a:rPr lang="en-US" sz="2000" b="0" dirty="0"/>
                        <a:t>Emulsion Breakers (Demulsifiers) </a:t>
                      </a:r>
                    </a:p>
                  </a:txBody>
                  <a:tcPr marL="45714" marR="45714" marT="22857" marB="22857" anchor="ctr"/>
                </a:tc>
                <a:tc gridSpan="2">
                  <a:txBody>
                    <a:bodyPr/>
                    <a:lstStyle/>
                    <a:p>
                      <a:pPr algn="ctr" fontAlgn="t"/>
                      <a:endParaRPr lang="en-US" sz="1800" b="0" i="0" u="none" strike="noStrike" dirty="0">
                        <a:solidFill>
                          <a:schemeClr val="tx1"/>
                        </a:solidFill>
                        <a:effectLst/>
                        <a:latin typeface="+mn-lt"/>
                        <a:cs typeface="Times New Roman" panose="02020603050405020304" pitchFamily="18" charset="0"/>
                      </a:endParaRPr>
                    </a:p>
                  </a:txBody>
                  <a:tcPr marL="4762" marR="4762" marT="4762" marB="0" anchor="ctr"/>
                </a:tc>
                <a:tc hMerge="1">
                  <a:txBody>
                    <a:bodyPr/>
                    <a:lstStyle/>
                    <a:p>
                      <a:pPr algn="ctr" fontAlgn="t"/>
                      <a:endParaRPr lang="en-US" sz="2800" b="0" i="0" u="none" strike="noStrike" dirty="0">
                        <a:solidFill>
                          <a:schemeClr val="tx1"/>
                        </a:solidFill>
                        <a:effectLst/>
                        <a:latin typeface="+mn-lt"/>
                        <a:cs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342142">
                <a:tc>
                  <a:txBody>
                    <a:bodyPr/>
                    <a:lstStyle/>
                    <a:p>
                      <a:pPr lvl="0"/>
                      <a:r>
                        <a:rPr lang="en-US" sz="2000" b="0" dirty="0"/>
                        <a:t>Scale Inhibitor</a:t>
                      </a:r>
                    </a:p>
                  </a:txBody>
                  <a:tcPr marL="45714" marR="45714" marT="22857" marB="22857" anchor="ctr"/>
                </a:tc>
                <a:tc gridSpan="2">
                  <a:txBody>
                    <a:bodyPr/>
                    <a:lstStyle/>
                    <a:p>
                      <a:pPr algn="ctr" fontAlgn="t"/>
                      <a:endParaRPr lang="en-US" sz="1800" b="0" i="0" u="none" strike="noStrike" dirty="0">
                        <a:solidFill>
                          <a:schemeClr val="tx1"/>
                        </a:solidFill>
                        <a:effectLst/>
                        <a:latin typeface="+mn-lt"/>
                        <a:cs typeface="Times New Roman" panose="02020603050405020304" pitchFamily="18" charset="0"/>
                      </a:endParaRPr>
                    </a:p>
                  </a:txBody>
                  <a:tcPr marL="4762" marR="4762" marT="4762" marB="0" anchor="ctr"/>
                </a:tc>
                <a:tc hMerge="1">
                  <a:txBody>
                    <a:bodyPr/>
                    <a:lstStyle/>
                    <a:p>
                      <a:endParaRPr lang="en-US" sz="2800" b="0" dirty="0">
                        <a:solidFill>
                          <a:schemeClr val="tx1"/>
                        </a:solidFill>
                      </a:endParaRPr>
                    </a:p>
                  </a:txBody>
                  <a:tcPr marL="9525" marR="9525" marT="9525" marB="0" anchor="ctr"/>
                </a:tc>
                <a:extLst>
                  <a:ext uri="{0D108BD9-81ED-4DB2-BD59-A6C34878D82A}">
                    <a16:rowId xmlns:a16="http://schemas.microsoft.com/office/drawing/2014/main" val="10004"/>
                  </a:ext>
                </a:extLst>
              </a:tr>
              <a:tr h="289522">
                <a:tc>
                  <a:txBody>
                    <a:bodyPr/>
                    <a:lstStyle/>
                    <a:p>
                      <a:pPr marL="0" marR="0" indent="0" algn="l" defTabSz="1087444" rtl="0" eaLnBrk="1" fontAlgn="auto" latinLnBrk="0" hangingPunct="1">
                        <a:lnSpc>
                          <a:spcPct val="100000"/>
                        </a:lnSpc>
                        <a:spcBef>
                          <a:spcPts val="0"/>
                        </a:spcBef>
                        <a:spcAft>
                          <a:spcPts val="0"/>
                        </a:spcAft>
                        <a:buClrTx/>
                        <a:buSzTx/>
                        <a:buFontTx/>
                        <a:buNone/>
                        <a:tabLst/>
                        <a:defRPr/>
                      </a:pPr>
                      <a:r>
                        <a:rPr lang="en-US" sz="2000" b="0" dirty="0"/>
                        <a:t>Hydrate Inhibitor</a:t>
                      </a:r>
                    </a:p>
                  </a:txBody>
                  <a:tcPr marL="45714" marR="45714" marT="22857" marB="22857" anchor="ctr"/>
                </a:tc>
                <a:tc gridSpan="2">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1800" b="0" i="0" u="none" strike="noStrike" dirty="0">
                        <a:solidFill>
                          <a:schemeClr val="tx1"/>
                        </a:solidFill>
                        <a:effectLst/>
                        <a:latin typeface="+mn-lt"/>
                        <a:cs typeface="Times New Roman" panose="02020603050405020304" pitchFamily="18" charset="0"/>
                      </a:endParaRPr>
                    </a:p>
                  </a:txBody>
                  <a:tcPr marL="0" marR="0" marT="0" marB="0" anchor="ctr"/>
                </a:tc>
                <a:tc hMerge="1">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2800" b="0" i="0" u="none" strike="noStrike" dirty="0">
                        <a:solidFill>
                          <a:schemeClr val="tx1"/>
                        </a:solidFill>
                        <a:effectLst/>
                        <a:latin typeface="+mn-lt"/>
                        <a:cs typeface="Times New Roman" panose="02020603050405020304" pitchFamily="18" charset="0"/>
                      </a:endParaRPr>
                    </a:p>
                  </a:txBody>
                  <a:tcPr marL="0" marR="0" marT="0" marB="0" anchor="ctr"/>
                </a:tc>
                <a:extLst>
                  <a:ext uri="{0D108BD9-81ED-4DB2-BD59-A6C34878D82A}">
                    <a16:rowId xmlns:a16="http://schemas.microsoft.com/office/drawing/2014/main" val="10005"/>
                  </a:ext>
                </a:extLst>
              </a:tr>
              <a:tr h="248570">
                <a:tc>
                  <a:txBody>
                    <a:bodyPr/>
                    <a:lstStyle/>
                    <a:p>
                      <a:pPr algn="l" fontAlgn="t"/>
                      <a:r>
                        <a:rPr lang="en-US" sz="2000" b="0" kern="1200" dirty="0">
                          <a:solidFill>
                            <a:schemeClr val="dk1"/>
                          </a:solidFill>
                          <a:latin typeface="+mn-lt"/>
                          <a:ea typeface="+mn-ea"/>
                          <a:cs typeface="+mn-cs"/>
                        </a:rPr>
                        <a:t>Iron Removal</a:t>
                      </a:r>
                    </a:p>
                  </a:txBody>
                  <a:tcPr marL="4762" marR="4762" marT="4762" marB="0" anchor="ctr"/>
                </a:tc>
                <a:tc gridSpan="2">
                  <a:txBody>
                    <a:bodyPr/>
                    <a:lstStyle/>
                    <a:p>
                      <a:pPr marL="0" marR="0" indent="0" algn="ctr" defTabSz="1087444" rtl="0" eaLnBrk="1" fontAlgn="t" latinLnBrk="0" hangingPunct="1">
                        <a:lnSpc>
                          <a:spcPct val="100000"/>
                        </a:lnSpc>
                        <a:spcBef>
                          <a:spcPts val="0"/>
                        </a:spcBef>
                        <a:spcAft>
                          <a:spcPts val="0"/>
                        </a:spcAft>
                        <a:buClrTx/>
                        <a:buSzTx/>
                        <a:buFontTx/>
                        <a:buNone/>
                        <a:tabLst/>
                        <a:defRPr/>
                      </a:pPr>
                      <a:endParaRPr lang="en-US" sz="1800" b="0" u="none" strike="noStrike" kern="1200" dirty="0">
                        <a:solidFill>
                          <a:schemeClr val="tx1"/>
                        </a:solidFill>
                        <a:effectLst/>
                        <a:latin typeface="+mn-lt"/>
                        <a:ea typeface="+mn-ea"/>
                        <a:cs typeface="Times New Roman" panose="02020603050405020304" pitchFamily="18" charset="0"/>
                      </a:endParaRPr>
                    </a:p>
                  </a:txBody>
                  <a:tcPr marL="4762" marR="4762" marT="4762" marB="0" anchor="ctr"/>
                </a:tc>
                <a:tc hMerge="1">
                  <a:txBody>
                    <a:bodyPr/>
                    <a:lstStyle/>
                    <a:p>
                      <a:pPr algn="l" fontAlgn="t"/>
                      <a:endParaRPr lang="en-US" sz="3600" b="0" i="0" u="none" strike="noStrike" dirty="0">
                        <a:solidFill>
                          <a:srgbClr val="000000"/>
                        </a:solidFill>
                        <a:effectLst/>
                        <a:latin typeface="+mn-lt"/>
                        <a:cs typeface="Times New Roman" panose="02020603050405020304" pitchFamily="18" charset="0"/>
                      </a:endParaRPr>
                    </a:p>
                  </a:txBody>
                  <a:tcPr marL="9525" marR="9525" marT="9525" marB="0" anchor="ctr"/>
                </a:tc>
                <a:extLst>
                  <a:ext uri="{0D108BD9-81ED-4DB2-BD59-A6C34878D82A}">
                    <a16:rowId xmlns:a16="http://schemas.microsoft.com/office/drawing/2014/main" val="10006"/>
                  </a:ext>
                </a:extLst>
              </a:tr>
            </a:tbl>
          </a:graphicData>
        </a:graphic>
      </p:graphicFrame>
      <p:sp>
        <p:nvSpPr>
          <p:cNvPr id="5" name="Title 1"/>
          <p:cNvSpPr>
            <a:spLocks noGrp="1"/>
          </p:cNvSpPr>
          <p:nvPr>
            <p:ph type="title"/>
          </p:nvPr>
        </p:nvSpPr>
        <p:spPr>
          <a:xfrm>
            <a:off x="1427871" y="748937"/>
            <a:ext cx="9049170" cy="130680"/>
          </a:xfrm>
        </p:spPr>
        <p:txBody>
          <a:bodyPr>
            <a:noAutofit/>
          </a:bodyPr>
          <a:lstStyle/>
          <a:p>
            <a:pPr lvl="0" algn="ctr"/>
            <a:r>
              <a:rPr lang="en-US" altLang="en-US" sz="2400" b="1" dirty="0">
                <a:latin typeface="+mn-lt"/>
                <a:ea typeface="+mn-ea"/>
                <a:cs typeface="+mn-cs"/>
              </a:rPr>
              <a:t>R&amp;D Based Developed Production Specialty Chemicals </a:t>
            </a:r>
            <a:endParaRPr lang="en-GB" sz="2400" b="1" dirty="0">
              <a:latin typeface="+mn-lt"/>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1027569233"/>
              </p:ext>
            </p:extLst>
          </p:nvPr>
        </p:nvGraphicFramePr>
        <p:xfrm>
          <a:off x="1162307" y="4839736"/>
          <a:ext cx="10013413" cy="1098197"/>
        </p:xfrm>
        <a:graphic>
          <a:graphicData uri="http://schemas.openxmlformats.org/drawingml/2006/table">
            <a:tbl>
              <a:tblPr firstRow="1" bandRow="1">
                <a:tableStyleId>{5C22544A-7EE6-4342-B048-85BDC9FD1C3A}</a:tableStyleId>
              </a:tblPr>
              <a:tblGrid>
                <a:gridCol w="5804970">
                  <a:extLst>
                    <a:ext uri="{9D8B030D-6E8A-4147-A177-3AD203B41FA5}">
                      <a16:colId xmlns:a16="http://schemas.microsoft.com/office/drawing/2014/main" val="20000"/>
                    </a:ext>
                  </a:extLst>
                </a:gridCol>
                <a:gridCol w="1257687">
                  <a:extLst>
                    <a:ext uri="{9D8B030D-6E8A-4147-A177-3AD203B41FA5}">
                      <a16:colId xmlns:a16="http://schemas.microsoft.com/office/drawing/2014/main" val="20001"/>
                    </a:ext>
                  </a:extLst>
                </a:gridCol>
                <a:gridCol w="2950756">
                  <a:extLst>
                    <a:ext uri="{9D8B030D-6E8A-4147-A177-3AD203B41FA5}">
                      <a16:colId xmlns:a16="http://schemas.microsoft.com/office/drawing/2014/main" val="20002"/>
                    </a:ext>
                  </a:extLst>
                </a:gridCol>
              </a:tblGrid>
              <a:tr h="401081">
                <a:tc gridSpan="3">
                  <a:txBody>
                    <a:bodyPr/>
                    <a:lstStyle/>
                    <a:p>
                      <a:pPr marL="0" marR="0" lvl="0" indent="0" algn="ctr" defTabSz="1087444"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latin typeface="+mj-lt"/>
                          <a:ea typeface="+mn-ea"/>
                          <a:cs typeface="Times New Roman" pitchFamily="18" charset="0"/>
                        </a:rPr>
                        <a:t>Waste Water Treatment  Specialty Chemicals</a:t>
                      </a:r>
                    </a:p>
                  </a:txBody>
                  <a:tcPr anchor="ctr">
                    <a:solidFill>
                      <a:schemeClr val="bg1">
                        <a:lumMod val="6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7116">
                <a:tc>
                  <a:txBody>
                    <a:bodyPr/>
                    <a:lstStyle/>
                    <a:p>
                      <a:pPr marL="0" marR="0" indent="0" algn="l" defTabSz="1087444" rtl="0" eaLnBrk="1" fontAlgn="auto" latinLnBrk="0" hangingPunct="1">
                        <a:lnSpc>
                          <a:spcPct val="100000"/>
                        </a:lnSpc>
                        <a:spcBef>
                          <a:spcPts val="0"/>
                        </a:spcBef>
                        <a:spcAft>
                          <a:spcPts val="0"/>
                        </a:spcAft>
                        <a:buClrTx/>
                        <a:buSzTx/>
                        <a:buFontTx/>
                        <a:buNone/>
                        <a:tabLst/>
                        <a:defRPr/>
                      </a:pPr>
                      <a:r>
                        <a:rPr lang="en-US" sz="2000" dirty="0"/>
                        <a:t>Corrosion Inhibitors/Scavengers/Preservative</a:t>
                      </a:r>
                    </a:p>
                  </a:txBody>
                  <a:tcPr anchor="ctr"/>
                </a:tc>
                <a:tc gridSpan="2">
                  <a:txBody>
                    <a:bodyPr/>
                    <a:lstStyle/>
                    <a:p>
                      <a:pPr algn="ctr" fontAlgn="ctr"/>
                      <a:endParaRPr lang="en-US" sz="1600" kern="1200" dirty="0">
                        <a:solidFill>
                          <a:schemeClr val="dk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7" name="Rectangle 6">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27ADAAC-263B-4EBE-AD48-21D54C3A606A}"/>
              </a:ext>
            </a:extLst>
          </p:cNvPr>
          <p:cNvSpPr/>
          <p:nvPr/>
        </p:nvSpPr>
        <p:spPr>
          <a:xfrm>
            <a:off x="934829" y="368188"/>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27ADAAC-263B-4EBE-AD48-21D54C3A606A}"/>
              </a:ext>
            </a:extLst>
          </p:cNvPr>
          <p:cNvSpPr/>
          <p:nvPr/>
        </p:nvSpPr>
        <p:spPr>
          <a:xfrm>
            <a:off x="137495" y="368230"/>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7937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6BB5450A-C5B5-4CEB-B3A7-EBBA1870CDAE}"/>
              </a:ext>
            </a:extLst>
          </p:cNvPr>
          <p:cNvGrpSpPr/>
          <p:nvPr/>
        </p:nvGrpSpPr>
        <p:grpSpPr>
          <a:xfrm>
            <a:off x="7953375" y="771858"/>
            <a:ext cx="3505200" cy="5486401"/>
            <a:chOff x="5257800" y="1371600"/>
            <a:chExt cx="3505200" cy="5486401"/>
          </a:xfrm>
        </p:grpSpPr>
        <p:pic>
          <p:nvPicPr>
            <p:cNvPr id="12" name="Picture 14" descr="http://t0.gstatic.com/images?q=tbn:ANd9GcTjk9C5JQVurcBL5_5eoMNvBBIWRpBuwxPVZOQSYCNw4AVS-PJu">
              <a:extLst>
                <a:ext uri="{FF2B5EF4-FFF2-40B4-BE49-F238E27FC236}">
                  <a16:creationId xmlns:a16="http://schemas.microsoft.com/office/drawing/2014/main" id="{4AD75288-0D4A-4741-8203-FB30881CC211}"/>
                </a:ext>
              </a:extLst>
            </p:cNvPr>
            <p:cNvPicPr>
              <a:picLocks noChangeAspect="1" noChangeArrowheads="1"/>
            </p:cNvPicPr>
            <p:nvPr/>
          </p:nvPicPr>
          <p:blipFill>
            <a:blip r:embed="rId3" cstate="print"/>
            <a:srcRect/>
            <a:stretch>
              <a:fillRect/>
            </a:stretch>
          </p:blipFill>
          <p:spPr bwMode="auto">
            <a:xfrm>
              <a:off x="6172200" y="2971800"/>
              <a:ext cx="2590800" cy="1771651"/>
            </a:xfrm>
            <a:prstGeom prst="rect">
              <a:avLst/>
            </a:prstGeom>
            <a:noFill/>
          </p:spPr>
        </p:pic>
        <p:pic>
          <p:nvPicPr>
            <p:cNvPr id="13" name="Picture 10" descr="http://t0.gstatic.com/images?q=tbn:ANd9GcTHOQp0WofunJ1L1-OCW96YdPqNZf5zo9KSB14qZGqrYm-paO5upEaGy11u5A">
              <a:extLst>
                <a:ext uri="{FF2B5EF4-FFF2-40B4-BE49-F238E27FC236}">
                  <a16:creationId xmlns:a16="http://schemas.microsoft.com/office/drawing/2014/main" id="{23CF55CA-1038-46A5-BF18-60ECE09E07B3}"/>
                </a:ext>
              </a:extLst>
            </p:cNvPr>
            <p:cNvPicPr>
              <a:picLocks noChangeAspect="1" noChangeArrowheads="1"/>
            </p:cNvPicPr>
            <p:nvPr/>
          </p:nvPicPr>
          <p:blipFill>
            <a:blip r:embed="rId4" cstate="print"/>
            <a:srcRect/>
            <a:stretch>
              <a:fillRect/>
            </a:stretch>
          </p:blipFill>
          <p:spPr bwMode="auto">
            <a:xfrm>
              <a:off x="5257800" y="4724401"/>
              <a:ext cx="3505200" cy="2133600"/>
            </a:xfrm>
            <a:prstGeom prst="rect">
              <a:avLst/>
            </a:prstGeom>
            <a:noFill/>
          </p:spPr>
        </p:pic>
        <p:pic>
          <p:nvPicPr>
            <p:cNvPr id="14" name="Picture 2" descr="http://t2.gstatic.com/images?q=tbn:ANd9GcTfOneMwzDJSSaS66wLuBWWdU5tD_DUtGvsL2dTeoEOupdLMLe6O5uDgz3dFg">
              <a:extLst>
                <a:ext uri="{FF2B5EF4-FFF2-40B4-BE49-F238E27FC236}">
                  <a16:creationId xmlns:a16="http://schemas.microsoft.com/office/drawing/2014/main" id="{DB3E9916-49D1-4AB1-A4EC-BC84D5A1C4A5}"/>
                </a:ext>
              </a:extLst>
            </p:cNvPr>
            <p:cNvPicPr>
              <a:picLocks noChangeAspect="1" noChangeArrowheads="1"/>
            </p:cNvPicPr>
            <p:nvPr/>
          </p:nvPicPr>
          <p:blipFill>
            <a:blip r:embed="rId5" cstate="print"/>
            <a:srcRect/>
            <a:stretch>
              <a:fillRect/>
            </a:stretch>
          </p:blipFill>
          <p:spPr bwMode="auto">
            <a:xfrm>
              <a:off x="5257800" y="4572000"/>
              <a:ext cx="1485900" cy="1133476"/>
            </a:xfrm>
            <a:prstGeom prst="rect">
              <a:avLst/>
            </a:prstGeom>
            <a:noFill/>
          </p:spPr>
        </p:pic>
        <p:pic>
          <p:nvPicPr>
            <p:cNvPr id="15" name="Picture 6" descr="http://www.modul.spb.ru/img/flash/danger1.JPG">
              <a:extLst>
                <a:ext uri="{FF2B5EF4-FFF2-40B4-BE49-F238E27FC236}">
                  <a16:creationId xmlns:a16="http://schemas.microsoft.com/office/drawing/2014/main" id="{EA1EBE44-8D8E-4112-A624-12823E113F65}"/>
                </a:ext>
              </a:extLst>
            </p:cNvPr>
            <p:cNvPicPr>
              <a:picLocks noChangeAspect="1" noChangeArrowheads="1"/>
            </p:cNvPicPr>
            <p:nvPr/>
          </p:nvPicPr>
          <p:blipFill>
            <a:blip r:embed="rId6" cstate="print"/>
            <a:srcRect/>
            <a:stretch>
              <a:fillRect/>
            </a:stretch>
          </p:blipFill>
          <p:spPr bwMode="auto">
            <a:xfrm>
              <a:off x="6172200" y="1371600"/>
              <a:ext cx="2590800" cy="1600200"/>
            </a:xfrm>
            <a:prstGeom prst="rect">
              <a:avLst/>
            </a:prstGeom>
            <a:noFill/>
          </p:spPr>
        </p:pic>
        <p:pic>
          <p:nvPicPr>
            <p:cNvPr id="16" name="Picture 12" descr="http://us.cdn2.123rf.com/168nwm/petdcat/petdcat0910/petdcat091000020/5635868-asian-woman-working-in-a-laboratory-with-chemicals.jpg">
              <a:extLst>
                <a:ext uri="{FF2B5EF4-FFF2-40B4-BE49-F238E27FC236}">
                  <a16:creationId xmlns:a16="http://schemas.microsoft.com/office/drawing/2014/main" id="{C44EAF25-22D4-4A26-8AB9-663FF65E1380}"/>
                </a:ext>
              </a:extLst>
            </p:cNvPr>
            <p:cNvPicPr>
              <a:picLocks noChangeAspect="1" noChangeArrowheads="1"/>
            </p:cNvPicPr>
            <p:nvPr/>
          </p:nvPicPr>
          <p:blipFill>
            <a:blip r:embed="rId7" cstate="print"/>
            <a:srcRect/>
            <a:stretch>
              <a:fillRect/>
            </a:stretch>
          </p:blipFill>
          <p:spPr bwMode="auto">
            <a:xfrm>
              <a:off x="5257800" y="2971800"/>
              <a:ext cx="1066800" cy="1600200"/>
            </a:xfrm>
            <a:prstGeom prst="rect">
              <a:avLst/>
            </a:prstGeom>
            <a:noFill/>
          </p:spPr>
        </p:pic>
        <p:pic>
          <p:nvPicPr>
            <p:cNvPr id="17" name="Picture 22" descr="http://css.nitrobahn.com/wp-content/uploads/2011/08/commercial-trucks.jpg">
              <a:extLst>
                <a:ext uri="{FF2B5EF4-FFF2-40B4-BE49-F238E27FC236}">
                  <a16:creationId xmlns:a16="http://schemas.microsoft.com/office/drawing/2014/main" id="{CE5034F9-E5C8-47B1-9CAB-E627E16E177C}"/>
                </a:ext>
              </a:extLst>
            </p:cNvPr>
            <p:cNvPicPr>
              <a:picLocks noChangeAspect="1" noChangeArrowheads="1"/>
            </p:cNvPicPr>
            <p:nvPr/>
          </p:nvPicPr>
          <p:blipFill>
            <a:blip r:embed="rId8" cstate="print"/>
            <a:srcRect/>
            <a:stretch>
              <a:fillRect/>
            </a:stretch>
          </p:blipFill>
          <p:spPr bwMode="auto">
            <a:xfrm>
              <a:off x="5257800" y="1371600"/>
              <a:ext cx="1981200" cy="1600200"/>
            </a:xfrm>
            <a:prstGeom prst="rect">
              <a:avLst/>
            </a:prstGeom>
            <a:noFill/>
          </p:spPr>
        </p:pic>
      </p:grpSp>
      <p:sp>
        <p:nvSpPr>
          <p:cNvPr id="3" name="Rectangle 2">
            <a:extLst>
              <a:ext uri="{FF2B5EF4-FFF2-40B4-BE49-F238E27FC236}">
                <a16:creationId xmlns:a16="http://schemas.microsoft.com/office/drawing/2014/main" id="{DCBFB4FE-59A3-4102-85A1-C4CDD1B4DB83}"/>
              </a:ext>
            </a:extLst>
          </p:cNvPr>
          <p:cNvSpPr/>
          <p:nvPr/>
        </p:nvSpPr>
        <p:spPr>
          <a:xfrm>
            <a:off x="333375" y="1342195"/>
            <a:ext cx="6705600" cy="4755148"/>
          </a:xfrm>
          <a:prstGeom prst="rect">
            <a:avLst/>
          </a:prstGeom>
        </p:spPr>
        <p:txBody>
          <a:bodyPr wrap="square">
            <a:spAutoFit/>
          </a:bodyPr>
          <a:lstStyle/>
          <a:p>
            <a:pPr algn="just"/>
            <a:r>
              <a:rPr lang="en-US" dirty="0">
                <a:latin typeface="Times New Roman" pitchFamily="18" charset="0"/>
                <a:cs typeface="Times New Roman" pitchFamily="18" charset="0"/>
              </a:rPr>
              <a:t>Formation of a highly reputable local blending facility that provides numerous products, services &amp; solutions to industry in Iraq and MENA region.</a:t>
            </a: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Supporting these activities by maintaining fully equipped facilities, including Laboratory, sizable warehousing &amp; offices as well as a complete distribution network all staffed by personnel who are able to package and prepare the appropriate solution for the customers within the Sultanate &amp; Overseas. </a:t>
            </a: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Key operations need to be in place while leaving a multitude of important tasks to this Organization, examples include:</a:t>
            </a:r>
          </a:p>
          <a:p>
            <a:pPr algn="just"/>
            <a:endParaRPr lang="en-GB" sz="1100"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Sales &amp; Marketing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Customs Clearance &amp; Forwarding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Financial Services</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Infrastructure &amp; Logistical Support such as offices &amp; warehousing, transportation &amp; delivery, personnel and general management</a:t>
            </a:r>
            <a:endParaRPr lang="en-US" dirty="0"/>
          </a:p>
        </p:txBody>
      </p:sp>
      <p:sp>
        <p:nvSpPr>
          <p:cNvPr id="4" name="Rectangle 3">
            <a:extLst>
              <a:ext uri="{FF2B5EF4-FFF2-40B4-BE49-F238E27FC236}">
                <a16:creationId xmlns:a16="http://schemas.microsoft.com/office/drawing/2014/main" id="{DD1DD5DD-EFED-4DD3-B85A-BE72CCA10E2B}"/>
              </a:ext>
            </a:extLst>
          </p:cNvPr>
          <p:cNvSpPr/>
          <p:nvPr/>
        </p:nvSpPr>
        <p:spPr>
          <a:xfrm>
            <a:off x="435516" y="698619"/>
            <a:ext cx="1233030" cy="584775"/>
          </a:xfrm>
          <a:prstGeom prst="rect">
            <a:avLst/>
          </a:prstGeom>
        </p:spPr>
        <p:txBody>
          <a:bodyPr wrap="none">
            <a:spAutoFit/>
          </a:bodyPr>
          <a:lstStyle/>
          <a:p>
            <a:r>
              <a:rPr lang="en-US" sz="3200" b="1" dirty="0"/>
              <a:t>Vision</a:t>
            </a:r>
          </a:p>
        </p:txBody>
      </p:sp>
    </p:spTree>
    <p:extLst>
      <p:ext uri="{BB962C8B-B14F-4D97-AF65-F5344CB8AC3E}">
        <p14:creationId xmlns:p14="http://schemas.microsoft.com/office/powerpoint/2010/main" val="1592929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Diagram 3">
            <a:extLst>
              <a:ext uri="{FF2B5EF4-FFF2-40B4-BE49-F238E27FC236}">
                <a16:creationId xmlns:a16="http://schemas.microsoft.com/office/drawing/2014/main" id="{02F74772-B887-42C1-97D5-FBEE737C9751}"/>
              </a:ext>
            </a:extLst>
          </p:cNvPr>
          <p:cNvGraphicFramePr/>
          <p:nvPr>
            <p:extLst>
              <p:ext uri="{D42A27DB-BD31-4B8C-83A1-F6EECF244321}">
                <p14:modId xmlns:p14="http://schemas.microsoft.com/office/powerpoint/2010/main" val="1663013234"/>
              </p:ext>
            </p:extLst>
          </p:nvPr>
        </p:nvGraphicFramePr>
        <p:xfrm>
          <a:off x="584980" y="1805437"/>
          <a:ext cx="5620703" cy="4568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C1A795E9-5A83-4737-8BC6-EF1DB3183D40}"/>
              </a:ext>
            </a:extLst>
          </p:cNvPr>
          <p:cNvPicPr>
            <a:picLocks noChangeAspect="1"/>
          </p:cNvPicPr>
          <p:nvPr/>
        </p:nvPicPr>
        <p:blipFill rotWithShape="1">
          <a:blip r:embed="rId8">
            <a:extLst>
              <a:ext uri="{28A0092B-C50C-407E-A947-70E740481C1C}">
                <a14:useLocalDpi xmlns:a14="http://schemas.microsoft.com/office/drawing/2010/main" val="0"/>
              </a:ext>
            </a:extLst>
          </a:blip>
          <a:srcRect r="10079" b="2"/>
          <a:stretch/>
        </p:blipFill>
        <p:spPr>
          <a:xfrm>
            <a:off x="6646926" y="1805437"/>
            <a:ext cx="2445102" cy="4058363"/>
          </a:xfrm>
          <a:prstGeom prst="rect">
            <a:avLst/>
          </a:prstGeom>
        </p:spPr>
      </p:pic>
      <p:pic>
        <p:nvPicPr>
          <p:cNvPr id="9" name="Picture 8">
            <a:extLst>
              <a:ext uri="{FF2B5EF4-FFF2-40B4-BE49-F238E27FC236}">
                <a16:creationId xmlns:a16="http://schemas.microsoft.com/office/drawing/2014/main" id="{5CACBDBA-DEF6-45F5-B6A2-F1A8BF46C375}"/>
              </a:ext>
            </a:extLst>
          </p:cNvPr>
          <p:cNvPicPr>
            <a:picLocks noChangeAspect="1"/>
          </p:cNvPicPr>
          <p:nvPr/>
        </p:nvPicPr>
        <p:blipFill rotWithShape="1">
          <a:blip r:embed="rId9">
            <a:extLst>
              <a:ext uri="{28A0092B-C50C-407E-A947-70E740481C1C}">
                <a14:useLocalDpi xmlns:a14="http://schemas.microsoft.com/office/drawing/2010/main" val="0"/>
              </a:ext>
            </a:extLst>
          </a:blip>
          <a:srcRect l="3400" r="26527" b="4"/>
          <a:stretch/>
        </p:blipFill>
        <p:spPr>
          <a:xfrm>
            <a:off x="9393476" y="1805436"/>
            <a:ext cx="2445104" cy="2199517"/>
          </a:xfrm>
          <a:prstGeom prst="rect">
            <a:avLst/>
          </a:prstGeom>
        </p:spPr>
      </p:pic>
      <p:pic>
        <p:nvPicPr>
          <p:cNvPr id="10" name="Picture 9">
            <a:extLst>
              <a:ext uri="{FF2B5EF4-FFF2-40B4-BE49-F238E27FC236}">
                <a16:creationId xmlns:a16="http://schemas.microsoft.com/office/drawing/2014/main" id="{4BBB498D-555D-4009-B5CF-F9B00903E4D7}"/>
              </a:ext>
            </a:extLst>
          </p:cNvPr>
          <p:cNvPicPr>
            <a:picLocks noChangeAspect="1"/>
          </p:cNvPicPr>
          <p:nvPr/>
        </p:nvPicPr>
        <p:blipFill rotWithShape="1">
          <a:blip r:embed="rId10">
            <a:extLst>
              <a:ext uri="{28A0092B-C50C-407E-A947-70E740481C1C}">
                <a14:useLocalDpi xmlns:a14="http://schemas.microsoft.com/office/drawing/2010/main" val="0"/>
              </a:ext>
            </a:extLst>
          </a:blip>
          <a:srcRect t="3625" r="4" b="4"/>
          <a:stretch/>
        </p:blipFill>
        <p:spPr>
          <a:xfrm>
            <a:off x="9393476" y="4212261"/>
            <a:ext cx="2448918" cy="1557696"/>
          </a:xfrm>
          <a:prstGeom prst="rect">
            <a:avLst/>
          </a:prstGeom>
        </p:spPr>
      </p:pic>
      <p:sp>
        <p:nvSpPr>
          <p:cNvPr id="11" name="Rectangle 10">
            <a:extLst>
              <a:ext uri="{FF2B5EF4-FFF2-40B4-BE49-F238E27FC236}">
                <a16:creationId xmlns:a16="http://schemas.microsoft.com/office/drawing/2014/main" id="{C86A7973-1E25-4124-A681-8E77D2828EAD}"/>
              </a:ext>
            </a:extLst>
          </p:cNvPr>
          <p:cNvSpPr/>
          <p:nvPr/>
        </p:nvSpPr>
        <p:spPr>
          <a:xfrm>
            <a:off x="435516" y="698619"/>
            <a:ext cx="5035289" cy="584775"/>
          </a:xfrm>
          <a:prstGeom prst="rect">
            <a:avLst/>
          </a:prstGeom>
        </p:spPr>
        <p:txBody>
          <a:bodyPr wrap="none">
            <a:spAutoFit/>
          </a:bodyPr>
          <a:lstStyle/>
          <a:p>
            <a:r>
              <a:rPr lang="en-US" sz="3200" b="1" dirty="0"/>
              <a:t>Chemical Blending Roadmap</a:t>
            </a:r>
          </a:p>
        </p:txBody>
      </p:sp>
    </p:spTree>
    <p:extLst>
      <p:ext uri="{BB962C8B-B14F-4D97-AF65-F5344CB8AC3E}">
        <p14:creationId xmlns:p14="http://schemas.microsoft.com/office/powerpoint/2010/main" val="2553621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6A7973-1E25-4124-A681-8E77D2828EAD}"/>
              </a:ext>
            </a:extLst>
          </p:cNvPr>
          <p:cNvSpPr/>
          <p:nvPr/>
        </p:nvSpPr>
        <p:spPr>
          <a:xfrm>
            <a:off x="435516" y="698619"/>
            <a:ext cx="5035289" cy="584775"/>
          </a:xfrm>
          <a:prstGeom prst="rect">
            <a:avLst/>
          </a:prstGeom>
        </p:spPr>
        <p:txBody>
          <a:bodyPr wrap="none">
            <a:spAutoFit/>
          </a:bodyPr>
          <a:lstStyle/>
          <a:p>
            <a:r>
              <a:rPr lang="en-US" sz="3200" b="1" dirty="0"/>
              <a:t>Chemical Blending Roadmap</a:t>
            </a:r>
          </a:p>
        </p:txBody>
      </p:sp>
      <p:sp>
        <p:nvSpPr>
          <p:cNvPr id="2" name="TextBox 1">
            <a:extLst>
              <a:ext uri="{FF2B5EF4-FFF2-40B4-BE49-F238E27FC236}">
                <a16:creationId xmlns:a16="http://schemas.microsoft.com/office/drawing/2014/main" id="{E918D0D3-1019-4143-B33B-E09686EDF1EF}"/>
              </a:ext>
            </a:extLst>
          </p:cNvPr>
          <p:cNvSpPr txBox="1"/>
          <p:nvPr/>
        </p:nvSpPr>
        <p:spPr>
          <a:xfrm>
            <a:off x="695325" y="1524000"/>
            <a:ext cx="10715625" cy="190821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Investment requirement for a Medium Size Fit for Purpose Blending Facility is $900k-$1Million.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Feasibility Study will be shared with Potential Share Holders.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6A5765D6-520E-4455-A591-E0E2DDF1EBD4}"/>
              </a:ext>
            </a:extLst>
          </p:cNvPr>
          <p:cNvPicPr>
            <a:picLocks noChangeAspect="1"/>
          </p:cNvPicPr>
          <p:nvPr/>
        </p:nvPicPr>
        <p:blipFill>
          <a:blip r:embed="rId3"/>
          <a:stretch>
            <a:fillRect/>
          </a:stretch>
        </p:blipFill>
        <p:spPr>
          <a:xfrm>
            <a:off x="1143000" y="2837554"/>
            <a:ext cx="4744416" cy="3391795"/>
          </a:xfrm>
          <a:prstGeom prst="rect">
            <a:avLst/>
          </a:prstGeom>
        </p:spPr>
      </p:pic>
      <p:pic>
        <p:nvPicPr>
          <p:cNvPr id="4" name="Picture 3">
            <a:extLst>
              <a:ext uri="{FF2B5EF4-FFF2-40B4-BE49-F238E27FC236}">
                <a16:creationId xmlns:a16="http://schemas.microsoft.com/office/drawing/2014/main" id="{AD5429CC-5A43-439F-8BA2-958BFC0233B5}"/>
              </a:ext>
            </a:extLst>
          </p:cNvPr>
          <p:cNvPicPr>
            <a:picLocks noChangeAspect="1"/>
          </p:cNvPicPr>
          <p:nvPr/>
        </p:nvPicPr>
        <p:blipFill>
          <a:blip r:embed="rId4"/>
          <a:stretch>
            <a:fillRect/>
          </a:stretch>
        </p:blipFill>
        <p:spPr>
          <a:xfrm>
            <a:off x="6304586" y="2837554"/>
            <a:ext cx="4907035" cy="3510409"/>
          </a:xfrm>
          <a:prstGeom prst="rect">
            <a:avLst/>
          </a:prstGeom>
        </p:spPr>
      </p:pic>
    </p:spTree>
    <p:extLst>
      <p:ext uri="{BB962C8B-B14F-4D97-AF65-F5344CB8AC3E}">
        <p14:creationId xmlns:p14="http://schemas.microsoft.com/office/powerpoint/2010/main" val="106917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6A7973-1E25-4124-A681-8E77D2828EAD}"/>
              </a:ext>
            </a:extLst>
          </p:cNvPr>
          <p:cNvSpPr/>
          <p:nvPr/>
        </p:nvSpPr>
        <p:spPr>
          <a:xfrm>
            <a:off x="435516" y="698619"/>
            <a:ext cx="2017860" cy="584775"/>
          </a:xfrm>
          <a:prstGeom prst="rect">
            <a:avLst/>
          </a:prstGeom>
        </p:spPr>
        <p:txBody>
          <a:bodyPr wrap="none">
            <a:spAutoFit/>
          </a:bodyPr>
          <a:lstStyle/>
          <a:p>
            <a:r>
              <a:rPr lang="en-US" sz="3200" b="1" dirty="0"/>
              <a:t>Laboratory</a:t>
            </a:r>
          </a:p>
        </p:txBody>
      </p:sp>
      <p:sp>
        <p:nvSpPr>
          <p:cNvPr id="2" name="TextBox 1">
            <a:extLst>
              <a:ext uri="{FF2B5EF4-FFF2-40B4-BE49-F238E27FC236}">
                <a16:creationId xmlns:a16="http://schemas.microsoft.com/office/drawing/2014/main" id="{E918D0D3-1019-4143-B33B-E09686EDF1EF}"/>
              </a:ext>
            </a:extLst>
          </p:cNvPr>
          <p:cNvSpPr txBox="1"/>
          <p:nvPr/>
        </p:nvSpPr>
        <p:spPr>
          <a:xfrm>
            <a:off x="506436" y="1283394"/>
            <a:ext cx="10715625" cy="3323987"/>
          </a:xfrm>
          <a:prstGeom prst="rect">
            <a:avLst/>
          </a:prstGeom>
          <a:noFill/>
        </p:spPr>
        <p:txBody>
          <a:bodyPr wrap="square" rtlCol="0">
            <a:spAutoFit/>
          </a:bodyPr>
          <a:lstStyle/>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Full Range Laboratory can be set up which will take care of the Production Chemicals as well as Quality testing like Barite, Bentonite, Calcium Carbonate, Liquid Blending, Solid Blending and all related mud additive used in Water Base Mud, Oil Base Mud, etc.</a:t>
            </a:r>
          </a:p>
          <a:p>
            <a:pPr marL="342900" indent="-3429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Lab will be built to do Quality Test, Customization of Products specifically for </a:t>
            </a:r>
            <a:r>
              <a:rPr lang="en-US" sz="1600" dirty="0" err="1">
                <a:latin typeface="Times New Roman" panose="02020603050405020304" pitchFamily="18" charset="0"/>
                <a:cs typeface="Times New Roman" panose="02020603050405020304" pitchFamily="18" charset="0"/>
              </a:rPr>
              <a:t>Demulsifiers</a:t>
            </a:r>
            <a:r>
              <a:rPr lang="en-US" sz="1600" dirty="0">
                <a:latin typeface="Times New Roman" panose="02020603050405020304" pitchFamily="18" charset="0"/>
                <a:cs typeface="Times New Roman" panose="02020603050405020304" pitchFamily="18" charset="0"/>
              </a:rPr>
              <a:t> and Future product development.</a:t>
            </a:r>
          </a:p>
          <a:p>
            <a:pPr marL="342900" indent="-3429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Size 400-500 sqft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DB782693-C91A-4292-8321-12CAB75C780B}"/>
              </a:ext>
            </a:extLst>
          </p:cNvPr>
          <p:cNvPicPr>
            <a:picLocks noChangeAspect="1"/>
          </p:cNvPicPr>
          <p:nvPr/>
        </p:nvPicPr>
        <p:blipFill>
          <a:blip r:embed="rId3"/>
          <a:stretch>
            <a:fillRect/>
          </a:stretch>
        </p:blipFill>
        <p:spPr>
          <a:xfrm>
            <a:off x="918496" y="3446171"/>
            <a:ext cx="4866586" cy="2928171"/>
          </a:xfrm>
          <a:prstGeom prst="rect">
            <a:avLst/>
          </a:prstGeom>
        </p:spPr>
      </p:pic>
      <p:pic>
        <p:nvPicPr>
          <p:cNvPr id="6" name="Picture 5">
            <a:extLst>
              <a:ext uri="{FF2B5EF4-FFF2-40B4-BE49-F238E27FC236}">
                <a16:creationId xmlns:a16="http://schemas.microsoft.com/office/drawing/2014/main" id="{92C91CF3-B40F-49B4-8851-0DE5797B6672}"/>
              </a:ext>
            </a:extLst>
          </p:cNvPr>
          <p:cNvPicPr>
            <a:picLocks noChangeAspect="1"/>
          </p:cNvPicPr>
          <p:nvPr/>
        </p:nvPicPr>
        <p:blipFill>
          <a:blip r:embed="rId4"/>
          <a:stretch>
            <a:fillRect/>
          </a:stretch>
        </p:blipFill>
        <p:spPr>
          <a:xfrm>
            <a:off x="6364187" y="2968842"/>
            <a:ext cx="5207423" cy="3388958"/>
          </a:xfrm>
          <a:prstGeom prst="rect">
            <a:avLst/>
          </a:prstGeom>
        </p:spPr>
      </p:pic>
    </p:spTree>
    <p:extLst>
      <p:ext uri="{BB962C8B-B14F-4D97-AF65-F5344CB8AC3E}">
        <p14:creationId xmlns:p14="http://schemas.microsoft.com/office/powerpoint/2010/main" val="3394428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24D3BDA-94AA-4051-A113-89D255B6246C}"/>
              </a:ext>
            </a:extLst>
          </p:cNvPr>
          <p:cNvPicPr>
            <a:picLocks noChangeAspect="1"/>
          </p:cNvPicPr>
          <p:nvPr/>
        </p:nvPicPr>
        <p:blipFill>
          <a:blip r:embed="rId3"/>
          <a:stretch>
            <a:fillRect/>
          </a:stretch>
        </p:blipFill>
        <p:spPr>
          <a:xfrm>
            <a:off x="4953000" y="447675"/>
            <a:ext cx="5003800" cy="5962650"/>
          </a:xfrm>
          <a:prstGeom prst="rect">
            <a:avLst/>
          </a:prstGeom>
        </p:spPr>
      </p:pic>
      <p:sp>
        <p:nvSpPr>
          <p:cNvPr id="4" name="TextBox 3">
            <a:extLst>
              <a:ext uri="{FF2B5EF4-FFF2-40B4-BE49-F238E27FC236}">
                <a16:creationId xmlns:a16="http://schemas.microsoft.com/office/drawing/2014/main" id="{32778A70-DF30-45E1-9637-B16C8E05C64E}"/>
              </a:ext>
            </a:extLst>
          </p:cNvPr>
          <p:cNvSpPr txBox="1"/>
          <p:nvPr/>
        </p:nvSpPr>
        <p:spPr>
          <a:xfrm>
            <a:off x="506436" y="1058333"/>
            <a:ext cx="369303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Proposed Layout.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Ideally we should have 10,000 </a:t>
            </a:r>
            <a:r>
              <a:rPr lang="en-US" dirty="0" err="1"/>
              <a:t>sq</a:t>
            </a:r>
            <a:r>
              <a:rPr lang="en-US" dirty="0"/>
              <a:t> M land for such project especially if we want to go for Phase 2 expansion.  </a:t>
            </a:r>
          </a:p>
          <a:p>
            <a:pPr marL="285750" indent="-285750">
              <a:buFont typeface="Arial" panose="020B0604020202020204" pitchFamily="34" charset="0"/>
              <a:buChar char="•"/>
            </a:pPr>
            <a:r>
              <a:rPr lang="en-US" dirty="0"/>
              <a:t>If not available, 7000 </a:t>
            </a:r>
            <a:r>
              <a:rPr lang="en-US" dirty="0" err="1"/>
              <a:t>sq</a:t>
            </a:r>
            <a:r>
              <a:rPr lang="en-US" dirty="0"/>
              <a:t> M can be sufficient even for future expansion.</a:t>
            </a:r>
          </a:p>
          <a:p>
            <a:endParaRPr lang="en-US" dirty="0"/>
          </a:p>
        </p:txBody>
      </p:sp>
    </p:spTree>
    <p:extLst>
      <p:ext uri="{BB962C8B-B14F-4D97-AF65-F5344CB8AC3E}">
        <p14:creationId xmlns:p14="http://schemas.microsoft.com/office/powerpoint/2010/main" val="842487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3424" y="50200"/>
            <a:ext cx="1156372" cy="492073"/>
          </a:xfrm>
          <a:prstGeom prst="rect">
            <a:avLst/>
          </a:prstGeom>
        </p:spPr>
      </p:pic>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8F911E3-E966-41E9-BB71-701776777168}"/>
              </a:ext>
            </a:extLst>
          </p:cNvPr>
          <p:cNvSpPr/>
          <p:nvPr/>
        </p:nvSpPr>
        <p:spPr>
          <a:xfrm>
            <a:off x="435516" y="698619"/>
            <a:ext cx="3364639" cy="584775"/>
          </a:xfrm>
          <a:prstGeom prst="rect">
            <a:avLst/>
          </a:prstGeom>
        </p:spPr>
        <p:txBody>
          <a:bodyPr wrap="none">
            <a:spAutoFit/>
          </a:bodyPr>
          <a:lstStyle/>
          <a:p>
            <a:r>
              <a:rPr lang="en-US" sz="3200" b="1" u="sng" dirty="0"/>
              <a:t>Financial Snapshot</a:t>
            </a:r>
          </a:p>
        </p:txBody>
      </p:sp>
      <p:pic>
        <p:nvPicPr>
          <p:cNvPr id="4" name="Picture 3">
            <a:extLst>
              <a:ext uri="{FF2B5EF4-FFF2-40B4-BE49-F238E27FC236}">
                <a16:creationId xmlns:a16="http://schemas.microsoft.com/office/drawing/2014/main" id="{C53343A3-43DC-473B-8ABC-5F374BD39C44}"/>
              </a:ext>
            </a:extLst>
          </p:cNvPr>
          <p:cNvPicPr>
            <a:picLocks noChangeAspect="1"/>
          </p:cNvPicPr>
          <p:nvPr/>
        </p:nvPicPr>
        <p:blipFill>
          <a:blip r:embed="rId3"/>
          <a:stretch>
            <a:fillRect/>
          </a:stretch>
        </p:blipFill>
        <p:spPr>
          <a:xfrm>
            <a:off x="815924" y="1371600"/>
            <a:ext cx="9963836" cy="4396321"/>
          </a:xfrm>
          <a:prstGeom prst="rect">
            <a:avLst/>
          </a:prstGeom>
        </p:spPr>
      </p:pic>
    </p:spTree>
    <p:extLst>
      <p:ext uri="{BB962C8B-B14F-4D97-AF65-F5344CB8AC3E}">
        <p14:creationId xmlns:p14="http://schemas.microsoft.com/office/powerpoint/2010/main" val="493967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63340" y="1087722"/>
            <a:ext cx="5029200" cy="1200329"/>
          </a:xfrm>
          <a:prstGeom prst="rect">
            <a:avLst/>
          </a:prstGeom>
          <a:noFill/>
        </p:spPr>
        <p:txBody>
          <a:bodyPr wrap="square" rtlCol="0">
            <a:spAutoFit/>
          </a:bodyPr>
          <a:lstStyle/>
          <a:p>
            <a:pPr algn="ctr"/>
            <a:r>
              <a:rPr lang="en-US" sz="7200" b="1" dirty="0">
                <a:latin typeface="Century" panose="02040604050505020304" pitchFamily="18" charset="0"/>
              </a:rPr>
              <a:t>Thank you</a:t>
            </a:r>
          </a:p>
        </p:txBody>
      </p:sp>
      <p:sp>
        <p:nvSpPr>
          <p:cNvPr id="4" name="Rectangle 3"/>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928467"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1350498"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506436" y="2768608"/>
            <a:ext cx="1573824" cy="461665"/>
          </a:xfrm>
          <a:prstGeom prst="rect">
            <a:avLst/>
          </a:prstGeom>
          <a:noFill/>
        </p:spPr>
        <p:txBody>
          <a:bodyPr wrap="square" rtlCol="0">
            <a:spAutoFit/>
          </a:bodyPr>
          <a:lstStyle/>
          <a:p>
            <a:r>
              <a:rPr lang="en-US" sz="2400" b="1" dirty="0">
                <a:latin typeface="Domine" panose="02040503040403060204" pitchFamily="18" charset="0"/>
              </a:rPr>
              <a:t>Contact Us</a:t>
            </a:r>
          </a:p>
        </p:txBody>
      </p:sp>
      <p:sp>
        <p:nvSpPr>
          <p:cNvPr id="10" name="Freeform 117"/>
          <p:cNvSpPr>
            <a:spLocks/>
          </p:cNvSpPr>
          <p:nvPr/>
        </p:nvSpPr>
        <p:spPr bwMode="auto">
          <a:xfrm>
            <a:off x="670190" y="4358923"/>
            <a:ext cx="258277" cy="28878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rgbClr val="556A83"/>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TextBox 12"/>
          <p:cNvSpPr txBox="1"/>
          <p:nvPr/>
        </p:nvSpPr>
        <p:spPr>
          <a:xfrm>
            <a:off x="1362745" y="4358923"/>
            <a:ext cx="2884293" cy="338554"/>
          </a:xfrm>
          <a:prstGeom prst="rect">
            <a:avLst/>
          </a:prstGeom>
          <a:noFill/>
        </p:spPr>
        <p:txBody>
          <a:bodyPr wrap="square" rtlCol="0">
            <a:spAutoFit/>
          </a:bodyPr>
          <a:lstStyle/>
          <a:p>
            <a:r>
              <a:rPr lang="en-US" sz="1600" dirty="0">
                <a:latin typeface="Domine" panose="02040503040403060204" pitchFamily="18" charset="0"/>
              </a:rPr>
              <a:t>(+968) 24390846</a:t>
            </a:r>
          </a:p>
        </p:txBody>
      </p:sp>
      <p:sp>
        <p:nvSpPr>
          <p:cNvPr id="15" name="TextBox 14"/>
          <p:cNvSpPr txBox="1"/>
          <p:nvPr/>
        </p:nvSpPr>
        <p:spPr>
          <a:xfrm>
            <a:off x="1291845" y="4986765"/>
            <a:ext cx="1851405" cy="338554"/>
          </a:xfrm>
          <a:prstGeom prst="rect">
            <a:avLst/>
          </a:prstGeom>
          <a:noFill/>
        </p:spPr>
        <p:txBody>
          <a:bodyPr wrap="square" rtlCol="0">
            <a:spAutoFit/>
          </a:bodyPr>
          <a:lstStyle/>
          <a:p>
            <a:r>
              <a:rPr lang="en-US" sz="1600" dirty="0">
                <a:latin typeface="Domine" panose="02040503040403060204" pitchFamily="18" charset="0"/>
              </a:rPr>
              <a:t>www.esnad-int.com</a:t>
            </a:r>
          </a:p>
        </p:txBody>
      </p:sp>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477" y="5938866"/>
            <a:ext cx="1565051" cy="665978"/>
          </a:xfrm>
          <a:prstGeom prst="rect">
            <a:avLst/>
          </a:prstGeom>
        </p:spPr>
      </p:pic>
      <p:sp>
        <p:nvSpPr>
          <p:cNvPr id="2" name="TextBox 1">
            <a:extLst>
              <a:ext uri="{FF2B5EF4-FFF2-40B4-BE49-F238E27FC236}">
                <a16:creationId xmlns:a16="http://schemas.microsoft.com/office/drawing/2014/main" id="{BB89715A-4B85-4C91-9EB3-2081DC08DB92}"/>
              </a:ext>
            </a:extLst>
          </p:cNvPr>
          <p:cNvSpPr txBox="1"/>
          <p:nvPr/>
        </p:nvSpPr>
        <p:spPr>
          <a:xfrm>
            <a:off x="1374934" y="3277354"/>
            <a:ext cx="1859756" cy="1354217"/>
          </a:xfrm>
          <a:prstGeom prst="rect">
            <a:avLst/>
          </a:prstGeom>
          <a:noFill/>
        </p:spPr>
        <p:txBody>
          <a:bodyPr wrap="square" rtlCol="0">
            <a:spAutoFit/>
          </a:bodyPr>
          <a:lstStyle/>
          <a:p>
            <a:r>
              <a:rPr lang="en-GB" sz="1600" dirty="0"/>
              <a:t>Address:  </a:t>
            </a:r>
          </a:p>
          <a:p>
            <a:r>
              <a:rPr lang="en-GB" sz="1600" dirty="0"/>
              <a:t>PO Box 786, PC 116</a:t>
            </a:r>
          </a:p>
          <a:p>
            <a:r>
              <a:rPr lang="en-GB" sz="1600" dirty="0"/>
              <a:t>MAF, MUSCAT, Oman</a:t>
            </a:r>
          </a:p>
          <a:p>
            <a:endParaRPr lang="en-GB" dirty="0"/>
          </a:p>
        </p:txBody>
      </p:sp>
      <p:pic>
        <p:nvPicPr>
          <p:cNvPr id="19" name="Picture 18">
            <a:extLst>
              <a:ext uri="{FF2B5EF4-FFF2-40B4-BE49-F238E27FC236}">
                <a16:creationId xmlns:a16="http://schemas.microsoft.com/office/drawing/2014/main" id="{1DF77006-8437-41A2-9EC8-0540598FD6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1958" y="5036536"/>
            <a:ext cx="312519" cy="288783"/>
          </a:xfrm>
          <a:prstGeom prst="rect">
            <a:avLst/>
          </a:prstGeom>
        </p:spPr>
      </p:pic>
      <p:pic>
        <p:nvPicPr>
          <p:cNvPr id="21" name="Picture 20">
            <a:extLst>
              <a:ext uri="{FF2B5EF4-FFF2-40B4-BE49-F238E27FC236}">
                <a16:creationId xmlns:a16="http://schemas.microsoft.com/office/drawing/2014/main" id="{45540B5E-40E5-4233-B988-C683E9743F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615" y="3474037"/>
            <a:ext cx="448701" cy="369333"/>
          </a:xfrm>
          <a:prstGeom prst="rect">
            <a:avLst/>
          </a:prstGeom>
        </p:spPr>
      </p:pic>
      <p:sp>
        <p:nvSpPr>
          <p:cNvPr id="8" name="TextBox 7">
            <a:extLst>
              <a:ext uri="{FF2B5EF4-FFF2-40B4-BE49-F238E27FC236}">
                <a16:creationId xmlns:a16="http://schemas.microsoft.com/office/drawing/2014/main" id="{08386A9B-1C1D-429E-8868-6E31CF9A4D3C}"/>
              </a:ext>
            </a:extLst>
          </p:cNvPr>
          <p:cNvSpPr txBox="1"/>
          <p:nvPr/>
        </p:nvSpPr>
        <p:spPr>
          <a:xfrm>
            <a:off x="3863340" y="3429000"/>
            <a:ext cx="1450135" cy="1268477"/>
          </a:xfrm>
          <a:prstGeom prst="rect">
            <a:avLst/>
          </a:prstGeom>
          <a:noFill/>
        </p:spPr>
        <p:txBody>
          <a:bodyPr wrap="square" rtlCol="0">
            <a:spAutoFit/>
          </a:bodyPr>
          <a:lstStyle/>
          <a:p>
            <a:endParaRPr lang="en-GB" dirty="0"/>
          </a:p>
        </p:txBody>
      </p:sp>
      <p:sp>
        <p:nvSpPr>
          <p:cNvPr id="20" name="Rectangle 19"/>
          <p:cNvSpPr/>
          <p:nvPr/>
        </p:nvSpPr>
        <p:spPr>
          <a:xfrm>
            <a:off x="6598081" y="211393"/>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7020112" y="211393"/>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p:nvSpPr>
        <p:spPr>
          <a:xfrm>
            <a:off x="7442143" y="211393"/>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08386A9B-1C1D-429E-8868-6E31CF9A4D3C}"/>
              </a:ext>
            </a:extLst>
          </p:cNvPr>
          <p:cNvSpPr txBox="1"/>
          <p:nvPr/>
        </p:nvSpPr>
        <p:spPr>
          <a:xfrm>
            <a:off x="9954985" y="3267892"/>
            <a:ext cx="1450135" cy="1268477"/>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1249606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6729</TotalTime>
  <Words>450</Words>
  <Application>Microsoft Office PowerPoint</Application>
  <PresentationFormat>Widescreen</PresentationFormat>
  <Paragraphs>79</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Century</vt:lpstr>
      <vt:lpstr>Domine</vt:lpstr>
      <vt:lpstr>Times New Roman</vt:lpstr>
      <vt:lpstr>Wingdings</vt:lpstr>
      <vt:lpstr>Office Theme</vt:lpstr>
      <vt:lpstr>PowerPoint Presentation</vt:lpstr>
      <vt:lpstr>PowerPoint Presentation</vt:lpstr>
      <vt:lpstr>PowerPoint Presentation</vt:lpstr>
      <vt:lpstr>R&amp;D Based Developed Drilling Specialty Chemicals </vt:lpstr>
      <vt:lpstr>R&amp;D Based Developed Production Specialty Chemicals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 Yusuf</dc:creator>
  <cp:lastModifiedBy>Ahmed Alhamdani</cp:lastModifiedBy>
  <cp:revision>202</cp:revision>
  <dcterms:created xsi:type="dcterms:W3CDTF">2018-03-11T16:51:05Z</dcterms:created>
  <dcterms:modified xsi:type="dcterms:W3CDTF">2019-08-19T07:01:16Z</dcterms:modified>
</cp:coreProperties>
</file>